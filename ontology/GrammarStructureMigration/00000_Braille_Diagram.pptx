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EEBF7"/>
    <a:srgbClr val="F8CBAD"/>
    <a:srgbClr val="F2F2F2"/>
    <a:srgbClr val="FFD966"/>
    <a:srgbClr val="BDD7EE"/>
    <a:srgbClr val="5B9BD5"/>
    <a:srgbClr val="FFF2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9" d="100"/>
          <a:sy n="89" d="100"/>
        </p:scale>
        <p:origin x="466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smtClean="0"/>
              <a:t>Modifiez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469135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16643468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3235517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3255564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213220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4345344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3190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548220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 smtClean="0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273398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2967188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9453962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Modifiez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2E525FD-5DAE-450F-986C-EE61061A89BD}" type="datetimeFigureOut">
              <a:rPr lang="fr-BE" smtClean="0"/>
              <a:t>19-07-22</a:t>
            </a:fld>
            <a:endParaRPr lang="fr-BE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 dirty="0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98E9CB-8B48-40C7-B5B6-F46EF7381C42}" type="slidenum">
              <a:rPr lang="fr-BE" smtClean="0"/>
              <a:t>‹N°›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431384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8" name="Rectangle 587"/>
          <p:cNvSpPr/>
          <p:nvPr/>
        </p:nvSpPr>
        <p:spPr>
          <a:xfrm>
            <a:off x="9865612" y="622464"/>
            <a:ext cx="1029547" cy="5747504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587" name="Rectangle 586"/>
          <p:cNvSpPr/>
          <p:nvPr/>
        </p:nvSpPr>
        <p:spPr>
          <a:xfrm>
            <a:off x="7091710" y="621096"/>
            <a:ext cx="2774996" cy="574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586" name="Rectangle 585"/>
          <p:cNvSpPr/>
          <p:nvPr/>
        </p:nvSpPr>
        <p:spPr>
          <a:xfrm>
            <a:off x="4581170" y="621096"/>
            <a:ext cx="2512947" cy="574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585" name="Rectangle 584"/>
          <p:cNvSpPr/>
          <p:nvPr/>
        </p:nvSpPr>
        <p:spPr>
          <a:xfrm>
            <a:off x="1991161" y="621096"/>
            <a:ext cx="2592154" cy="574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sp>
        <p:nvSpPr>
          <p:cNvPr id="78" name="Rectangle 77"/>
          <p:cNvSpPr/>
          <p:nvPr/>
        </p:nvSpPr>
        <p:spPr>
          <a:xfrm>
            <a:off x="1051435" y="621096"/>
            <a:ext cx="938181" cy="5748872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grpSp>
        <p:nvGrpSpPr>
          <p:cNvPr id="16" name="Groupe 15"/>
          <p:cNvGrpSpPr/>
          <p:nvPr/>
        </p:nvGrpSpPr>
        <p:grpSpPr>
          <a:xfrm>
            <a:off x="8106056" y="5122279"/>
            <a:ext cx="731290" cy="1104817"/>
            <a:chOff x="7430306" y="1291648"/>
            <a:chExt cx="731290" cy="1104817"/>
          </a:xfrm>
        </p:grpSpPr>
        <p:grpSp>
          <p:nvGrpSpPr>
            <p:cNvPr id="133" name="Groupe 132"/>
            <p:cNvGrpSpPr/>
            <p:nvPr/>
          </p:nvGrpSpPr>
          <p:grpSpPr>
            <a:xfrm>
              <a:off x="7519308" y="1585582"/>
              <a:ext cx="531962" cy="810883"/>
              <a:chOff x="3026434" y="1009291"/>
              <a:chExt cx="531962" cy="810883"/>
            </a:xfrm>
          </p:grpSpPr>
          <p:sp>
            <p:nvSpPr>
              <p:cNvPr id="135" name="Rectangle 134"/>
              <p:cNvSpPr/>
              <p:nvPr/>
            </p:nvSpPr>
            <p:spPr>
              <a:xfrm>
                <a:off x="3026434" y="1009291"/>
                <a:ext cx="531962" cy="8108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36" name="Groupe 135"/>
              <p:cNvGrpSpPr/>
              <p:nvPr/>
            </p:nvGrpSpPr>
            <p:grpSpPr>
              <a:xfrm>
                <a:off x="3099039" y="1111370"/>
                <a:ext cx="386752" cy="606724"/>
                <a:chOff x="4399472" y="1561381"/>
                <a:chExt cx="386752" cy="606724"/>
              </a:xfrm>
            </p:grpSpPr>
            <p:sp>
              <p:nvSpPr>
                <p:cNvPr id="137" name="Ellipse 136"/>
                <p:cNvSpPr/>
                <p:nvPr/>
              </p:nvSpPr>
              <p:spPr>
                <a:xfrm>
                  <a:off x="439947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39" name="Ellipse 138"/>
                <p:cNvSpPr/>
                <p:nvPr/>
              </p:nvSpPr>
              <p:spPr>
                <a:xfrm>
                  <a:off x="4399472" y="1800045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0" name="Ellipse 139"/>
                <p:cNvSpPr/>
                <p:nvPr/>
              </p:nvSpPr>
              <p:spPr>
                <a:xfrm>
                  <a:off x="4656828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1" name="Ellipse 140"/>
                <p:cNvSpPr/>
                <p:nvPr/>
              </p:nvSpPr>
              <p:spPr>
                <a:xfrm>
                  <a:off x="465682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142" name="Ellipse 141"/>
                <p:cNvSpPr/>
                <p:nvPr/>
              </p:nvSpPr>
              <p:spPr>
                <a:xfrm>
                  <a:off x="4399472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134" name="ZoneTexte 133"/>
            <p:cNvSpPr txBox="1"/>
            <p:nvPr/>
          </p:nvSpPr>
          <p:spPr>
            <a:xfrm>
              <a:off x="7430306" y="1291648"/>
              <a:ext cx="7312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 smtClean="0"/>
                <a:t>G=</a:t>
              </a:r>
              <a:r>
                <a:rPr lang="fr-FR" dirty="0" err="1" smtClean="0"/>
                <a:t>E+I</a:t>
              </a:r>
              <a:endParaRPr lang="fr-BE" dirty="0"/>
            </a:p>
          </p:txBody>
        </p:sp>
        <p:sp>
          <p:nvSpPr>
            <p:cNvPr id="95" name="Ellipse 94"/>
            <p:cNvSpPr/>
            <p:nvPr/>
          </p:nvSpPr>
          <p:spPr>
            <a:xfrm>
              <a:off x="7849269" y="1927521"/>
              <a:ext cx="129396" cy="1293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98" name="Groupe 97"/>
          <p:cNvGrpSpPr/>
          <p:nvPr/>
        </p:nvGrpSpPr>
        <p:grpSpPr>
          <a:xfrm>
            <a:off x="1260093" y="3050692"/>
            <a:ext cx="531962" cy="810883"/>
            <a:chOff x="3026434" y="1009291"/>
            <a:chExt cx="531962" cy="810883"/>
          </a:xfrm>
        </p:grpSpPr>
        <p:sp>
          <p:nvSpPr>
            <p:cNvPr id="101" name="Rectangle 100"/>
            <p:cNvSpPr/>
            <p:nvPr/>
          </p:nvSpPr>
          <p:spPr>
            <a:xfrm>
              <a:off x="3026434" y="1009291"/>
              <a:ext cx="531962" cy="810883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4">
                <a:shade val="50000"/>
              </a:schemeClr>
            </a:lnRef>
            <a:fillRef idx="1">
              <a:schemeClr val="accent4"/>
            </a:fillRef>
            <a:effectRef idx="0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102" name="Groupe 101"/>
            <p:cNvGrpSpPr/>
            <p:nvPr/>
          </p:nvGrpSpPr>
          <p:grpSpPr>
            <a:xfrm>
              <a:off x="3099039" y="1111370"/>
              <a:ext cx="386752" cy="606724"/>
              <a:chOff x="4399472" y="1561381"/>
              <a:chExt cx="386752" cy="606724"/>
            </a:xfrm>
          </p:grpSpPr>
          <p:sp>
            <p:nvSpPr>
              <p:cNvPr id="103" name="Ellipse 102"/>
              <p:cNvSpPr/>
              <p:nvPr/>
            </p:nvSpPr>
            <p:spPr>
              <a:xfrm>
                <a:off x="4399472" y="1561381"/>
                <a:ext cx="129396" cy="129396"/>
              </a:xfrm>
              <a:prstGeom prst="ellipse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6" name="Ellipse 105"/>
              <p:cNvSpPr/>
              <p:nvPr/>
            </p:nvSpPr>
            <p:spPr>
              <a:xfrm>
                <a:off x="4399472" y="1800045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7" name="Ellipse 106"/>
              <p:cNvSpPr/>
              <p:nvPr/>
            </p:nvSpPr>
            <p:spPr>
              <a:xfrm>
                <a:off x="4656828" y="156138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8" name="Ellipse 107"/>
              <p:cNvSpPr/>
              <p:nvPr/>
            </p:nvSpPr>
            <p:spPr>
              <a:xfrm>
                <a:off x="4656828" y="2038709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9" name="Ellipse 108"/>
              <p:cNvSpPr/>
              <p:nvPr/>
            </p:nvSpPr>
            <p:spPr>
              <a:xfrm>
                <a:off x="4399472" y="2038709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99" name="ZoneTexte 98"/>
          <p:cNvSpPr txBox="1"/>
          <p:nvPr/>
        </p:nvSpPr>
        <p:spPr>
          <a:xfrm>
            <a:off x="1371116" y="2756758"/>
            <a:ext cx="3177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BE" dirty="0" smtClean="0"/>
              <a:t>A</a:t>
            </a:r>
            <a:endParaRPr lang="fr-BE" dirty="0"/>
          </a:p>
          <a:p>
            <a:endParaRPr lang="fr-BE" dirty="0"/>
          </a:p>
        </p:txBody>
      </p:sp>
      <p:sp>
        <p:nvSpPr>
          <p:cNvPr id="100" name="Ellipse 99"/>
          <p:cNvSpPr/>
          <p:nvPr/>
        </p:nvSpPr>
        <p:spPr>
          <a:xfrm>
            <a:off x="1590054" y="3392631"/>
            <a:ext cx="129396" cy="129396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BE" dirty="0">
              <a:solidFill>
                <a:schemeClr val="tx1"/>
              </a:solidFill>
            </a:endParaRPr>
          </a:p>
        </p:txBody>
      </p:sp>
      <p:grpSp>
        <p:nvGrpSpPr>
          <p:cNvPr id="57" name="Groupe 56"/>
          <p:cNvGrpSpPr/>
          <p:nvPr/>
        </p:nvGrpSpPr>
        <p:grpSpPr>
          <a:xfrm>
            <a:off x="2187788" y="704208"/>
            <a:ext cx="2463950" cy="1185322"/>
            <a:chOff x="859400" y="2371795"/>
            <a:chExt cx="2463950" cy="1185322"/>
          </a:xfrm>
        </p:grpSpPr>
        <p:sp>
          <p:nvSpPr>
            <p:cNvPr id="54" name="Rectangle 53"/>
            <p:cNvSpPr/>
            <p:nvPr/>
          </p:nvSpPr>
          <p:spPr>
            <a:xfrm>
              <a:off x="872520" y="2414112"/>
              <a:ext cx="2254421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188" name="Groupe 187"/>
            <p:cNvGrpSpPr/>
            <p:nvPr/>
          </p:nvGrpSpPr>
          <p:grpSpPr>
            <a:xfrm>
              <a:off x="859400" y="2375714"/>
              <a:ext cx="861133" cy="1104817"/>
              <a:chOff x="7189677" y="1291648"/>
              <a:chExt cx="861133" cy="1104817"/>
            </a:xfrm>
          </p:grpSpPr>
          <p:grpSp>
            <p:nvGrpSpPr>
              <p:cNvPr id="189" name="Groupe 188"/>
              <p:cNvGrpSpPr/>
              <p:nvPr/>
            </p:nvGrpSpPr>
            <p:grpSpPr>
              <a:xfrm>
                <a:off x="7338162" y="1585582"/>
                <a:ext cx="531962" cy="810883"/>
                <a:chOff x="2845288" y="1009291"/>
                <a:chExt cx="531962" cy="810883"/>
              </a:xfrm>
            </p:grpSpPr>
            <p:sp>
              <p:nvSpPr>
                <p:cNvPr id="192" name="Rectangle 191"/>
                <p:cNvSpPr/>
                <p:nvPr/>
              </p:nvSpPr>
              <p:spPr>
                <a:xfrm>
                  <a:off x="2845288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193" name="Groupe 192"/>
                <p:cNvGrpSpPr/>
                <p:nvPr/>
              </p:nvGrpSpPr>
              <p:grpSpPr>
                <a:xfrm>
                  <a:off x="2917893" y="1111370"/>
                  <a:ext cx="386752" cy="606724"/>
                  <a:chOff x="4218326" y="1561381"/>
                  <a:chExt cx="386752" cy="606724"/>
                </a:xfrm>
              </p:grpSpPr>
              <p:sp>
                <p:nvSpPr>
                  <p:cNvPr id="194" name="Ellipse 193"/>
                  <p:cNvSpPr/>
                  <p:nvPr/>
                </p:nvSpPr>
                <p:spPr>
                  <a:xfrm>
                    <a:off x="4218326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5" name="Ellipse 194"/>
                  <p:cNvSpPr/>
                  <p:nvPr/>
                </p:nvSpPr>
                <p:spPr>
                  <a:xfrm>
                    <a:off x="4218326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6" name="Ellipse 195"/>
                  <p:cNvSpPr/>
                  <p:nvPr/>
                </p:nvSpPr>
                <p:spPr>
                  <a:xfrm>
                    <a:off x="4475682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7" name="Ellipse 196"/>
                  <p:cNvSpPr/>
                  <p:nvPr/>
                </p:nvSpPr>
                <p:spPr>
                  <a:xfrm>
                    <a:off x="4475682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198" name="Ellipse 197"/>
                  <p:cNvSpPr/>
                  <p:nvPr/>
                </p:nvSpPr>
                <p:spPr>
                  <a:xfrm>
                    <a:off x="4218326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190" name="ZoneTexte 189"/>
              <p:cNvSpPr txBox="1"/>
              <p:nvPr/>
            </p:nvSpPr>
            <p:spPr>
              <a:xfrm>
                <a:off x="7189677" y="1291648"/>
                <a:ext cx="861133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B=!</a:t>
                </a:r>
                <a:r>
                  <a:rPr lang="fr-FR" dirty="0" err="1" smtClean="0"/>
                  <a:t>Y+A</a:t>
                </a:r>
                <a:endParaRPr lang="fr-BE" dirty="0"/>
              </a:p>
            </p:txBody>
          </p:sp>
          <p:sp>
            <p:nvSpPr>
              <p:cNvPr id="191" name="Ellipse 190"/>
              <p:cNvSpPr/>
              <p:nvPr/>
            </p:nvSpPr>
            <p:spPr>
              <a:xfrm>
                <a:off x="7668123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99" name="Groupe 198"/>
            <p:cNvGrpSpPr/>
            <p:nvPr/>
          </p:nvGrpSpPr>
          <p:grpSpPr>
            <a:xfrm>
              <a:off x="2039922" y="2371795"/>
              <a:ext cx="1283428" cy="1104817"/>
              <a:chOff x="7200272" y="1291648"/>
              <a:chExt cx="1283428" cy="1104817"/>
            </a:xfrm>
          </p:grpSpPr>
          <p:grpSp>
            <p:nvGrpSpPr>
              <p:cNvPr id="200" name="Groupe 199"/>
              <p:cNvGrpSpPr/>
              <p:nvPr/>
            </p:nvGrpSpPr>
            <p:grpSpPr>
              <a:xfrm>
                <a:off x="7519308" y="1585582"/>
                <a:ext cx="531962" cy="810883"/>
                <a:chOff x="3026434" y="1009291"/>
                <a:chExt cx="531962" cy="810883"/>
              </a:xfrm>
            </p:grpSpPr>
            <p:sp>
              <p:nvSpPr>
                <p:cNvPr id="203" name="Rectangle 202"/>
                <p:cNvSpPr/>
                <p:nvPr/>
              </p:nvSpPr>
              <p:spPr>
                <a:xfrm>
                  <a:off x="302643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04" name="Groupe 203"/>
                <p:cNvGrpSpPr/>
                <p:nvPr/>
              </p:nvGrpSpPr>
              <p:grpSpPr>
                <a:xfrm>
                  <a:off x="3099039" y="1111370"/>
                  <a:ext cx="386752" cy="606724"/>
                  <a:chOff x="4399472" y="1561381"/>
                  <a:chExt cx="386752" cy="606724"/>
                </a:xfrm>
              </p:grpSpPr>
              <p:sp>
                <p:nvSpPr>
                  <p:cNvPr id="205" name="Ellipse 204"/>
                  <p:cNvSpPr/>
                  <p:nvPr/>
                </p:nvSpPr>
                <p:spPr>
                  <a:xfrm>
                    <a:off x="4399472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6" name="Ellipse 205"/>
                  <p:cNvSpPr/>
                  <p:nvPr/>
                </p:nvSpPr>
                <p:spPr>
                  <a:xfrm>
                    <a:off x="4399472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7" name="Ellipse 206"/>
                  <p:cNvSpPr/>
                  <p:nvPr/>
                </p:nvSpPr>
                <p:spPr>
                  <a:xfrm>
                    <a:off x="4656828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8" name="Ellipse 207"/>
                  <p:cNvSpPr/>
                  <p:nvPr/>
                </p:nvSpPr>
                <p:spPr>
                  <a:xfrm>
                    <a:off x="465682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09" name="Ellipse 208"/>
                  <p:cNvSpPr/>
                  <p:nvPr/>
                </p:nvSpPr>
                <p:spPr>
                  <a:xfrm>
                    <a:off x="4399472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01" name="ZoneTexte 200"/>
              <p:cNvSpPr txBox="1"/>
              <p:nvPr/>
            </p:nvSpPr>
            <p:spPr>
              <a:xfrm>
                <a:off x="7200272" y="1291648"/>
                <a:ext cx="1283428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C=</a:t>
                </a:r>
                <a:r>
                  <a:rPr lang="fr-FR" sz="1600" dirty="0" err="1" smtClean="0"/>
                  <a:t>SymHV</a:t>
                </a:r>
                <a:r>
                  <a:rPr lang="fr-FR" dirty="0" smtClean="0"/>
                  <a:t>(B)</a:t>
                </a:r>
                <a:endParaRPr lang="fr-BE" dirty="0"/>
              </a:p>
            </p:txBody>
          </p:sp>
          <p:sp>
            <p:nvSpPr>
              <p:cNvPr id="202" name="Ellipse 201"/>
              <p:cNvSpPr/>
              <p:nvPr/>
            </p:nvSpPr>
            <p:spPr>
              <a:xfrm>
                <a:off x="7849269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1" name="Connecteur droit avec flèche 30"/>
            <p:cNvCxnSpPr>
              <a:stCxn id="192" idx="3"/>
              <a:endCxn id="203" idx="1"/>
            </p:cNvCxnSpPr>
            <p:nvPr/>
          </p:nvCxnSpPr>
          <p:spPr>
            <a:xfrm flipV="1">
              <a:off x="1539847" y="3071171"/>
              <a:ext cx="819111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2" name="ZoneTexte 31"/>
            <p:cNvSpPr txBox="1"/>
            <p:nvPr/>
          </p:nvSpPr>
          <p:spPr>
            <a:xfrm>
              <a:off x="1567865" y="2815197"/>
              <a:ext cx="762773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 smtClean="0"/>
                <a:t>Rotation</a:t>
              </a:r>
              <a:endParaRPr lang="fr-BE" sz="1300" dirty="0"/>
            </a:p>
          </p:txBody>
        </p:sp>
      </p:grpSp>
      <p:grpSp>
        <p:nvGrpSpPr>
          <p:cNvPr id="210" name="Groupe 209"/>
          <p:cNvGrpSpPr/>
          <p:nvPr/>
        </p:nvGrpSpPr>
        <p:grpSpPr>
          <a:xfrm>
            <a:off x="2111180" y="2206681"/>
            <a:ext cx="2353058" cy="1185322"/>
            <a:chOff x="818932" y="2371795"/>
            <a:chExt cx="2318306" cy="1185322"/>
          </a:xfrm>
        </p:grpSpPr>
        <p:sp>
          <p:nvSpPr>
            <p:cNvPr id="211" name="Rectangle 210"/>
            <p:cNvSpPr/>
            <p:nvPr/>
          </p:nvSpPr>
          <p:spPr>
            <a:xfrm>
              <a:off x="895226" y="2414112"/>
              <a:ext cx="2241730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212" name="Groupe 211"/>
            <p:cNvGrpSpPr/>
            <p:nvPr/>
          </p:nvGrpSpPr>
          <p:grpSpPr>
            <a:xfrm>
              <a:off x="818932" y="2375714"/>
              <a:ext cx="1071794" cy="1104817"/>
              <a:chOff x="7149209" y="1291648"/>
              <a:chExt cx="1071794" cy="1104817"/>
            </a:xfrm>
          </p:grpSpPr>
          <p:grpSp>
            <p:nvGrpSpPr>
              <p:cNvPr id="226" name="Groupe 225"/>
              <p:cNvGrpSpPr/>
              <p:nvPr/>
            </p:nvGrpSpPr>
            <p:grpSpPr>
              <a:xfrm>
                <a:off x="7350396" y="1585582"/>
                <a:ext cx="531962" cy="810883"/>
                <a:chOff x="2857522" y="1009291"/>
                <a:chExt cx="531962" cy="810883"/>
              </a:xfrm>
            </p:grpSpPr>
            <p:sp>
              <p:nvSpPr>
                <p:cNvPr id="229" name="Rectangle 228"/>
                <p:cNvSpPr/>
                <p:nvPr/>
              </p:nvSpPr>
              <p:spPr>
                <a:xfrm>
                  <a:off x="2857522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30" name="Groupe 229"/>
                <p:cNvGrpSpPr/>
                <p:nvPr/>
              </p:nvGrpSpPr>
              <p:grpSpPr>
                <a:xfrm>
                  <a:off x="2930127" y="1111370"/>
                  <a:ext cx="386752" cy="606724"/>
                  <a:chOff x="4230560" y="1561381"/>
                  <a:chExt cx="386752" cy="606724"/>
                </a:xfrm>
              </p:grpSpPr>
              <p:sp>
                <p:nvSpPr>
                  <p:cNvPr id="231" name="Ellipse 230"/>
                  <p:cNvSpPr/>
                  <p:nvPr/>
                </p:nvSpPr>
                <p:spPr>
                  <a:xfrm>
                    <a:off x="4230560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2" name="Ellipse 231"/>
                  <p:cNvSpPr/>
                  <p:nvPr/>
                </p:nvSpPr>
                <p:spPr>
                  <a:xfrm>
                    <a:off x="4230560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3" name="Ellipse 232"/>
                  <p:cNvSpPr/>
                  <p:nvPr/>
                </p:nvSpPr>
                <p:spPr>
                  <a:xfrm>
                    <a:off x="4487916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4" name="Ellipse 233"/>
                  <p:cNvSpPr/>
                  <p:nvPr/>
                </p:nvSpPr>
                <p:spPr>
                  <a:xfrm>
                    <a:off x="4487916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35" name="Ellipse 234"/>
                  <p:cNvSpPr/>
                  <p:nvPr/>
                </p:nvSpPr>
                <p:spPr>
                  <a:xfrm>
                    <a:off x="4230560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27" name="ZoneTexte 226"/>
              <p:cNvSpPr txBox="1"/>
              <p:nvPr/>
            </p:nvSpPr>
            <p:spPr>
              <a:xfrm>
                <a:off x="7149209" y="1291648"/>
                <a:ext cx="107179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E=</a:t>
                </a:r>
                <a:r>
                  <a:rPr lang="fr-FR" sz="1600" dirty="0" err="1" smtClean="0"/>
                  <a:t>SymH</a:t>
                </a:r>
                <a:r>
                  <a:rPr lang="fr-FR" dirty="0" smtClean="0"/>
                  <a:t>(I)</a:t>
                </a:r>
                <a:endParaRPr lang="fr-BE" dirty="0"/>
              </a:p>
            </p:txBody>
          </p:sp>
          <p:sp>
            <p:nvSpPr>
              <p:cNvPr id="228" name="Ellipse 227"/>
              <p:cNvSpPr/>
              <p:nvPr/>
            </p:nvSpPr>
            <p:spPr>
              <a:xfrm>
                <a:off x="7680348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13" name="Groupe 212"/>
            <p:cNvGrpSpPr/>
            <p:nvPr/>
          </p:nvGrpSpPr>
          <p:grpSpPr>
            <a:xfrm>
              <a:off x="2479924" y="2371795"/>
              <a:ext cx="657314" cy="1104817"/>
              <a:chOff x="7640274" y="1291648"/>
              <a:chExt cx="657314" cy="1104817"/>
            </a:xfrm>
          </p:grpSpPr>
          <p:grpSp>
            <p:nvGrpSpPr>
              <p:cNvPr id="216" name="Groupe 215"/>
              <p:cNvGrpSpPr/>
              <p:nvPr/>
            </p:nvGrpSpPr>
            <p:grpSpPr>
              <a:xfrm>
                <a:off x="7678836" y="1585582"/>
                <a:ext cx="531962" cy="810883"/>
                <a:chOff x="3185962" y="1009291"/>
                <a:chExt cx="531962" cy="810883"/>
              </a:xfrm>
            </p:grpSpPr>
            <p:sp>
              <p:nvSpPr>
                <p:cNvPr id="219" name="Rectangle 218"/>
                <p:cNvSpPr/>
                <p:nvPr/>
              </p:nvSpPr>
              <p:spPr>
                <a:xfrm>
                  <a:off x="3185962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20" name="Groupe 219"/>
                <p:cNvGrpSpPr/>
                <p:nvPr/>
              </p:nvGrpSpPr>
              <p:grpSpPr>
                <a:xfrm>
                  <a:off x="3258567" y="1111370"/>
                  <a:ext cx="386752" cy="606724"/>
                  <a:chOff x="4559000" y="1561381"/>
                  <a:chExt cx="386752" cy="606724"/>
                </a:xfrm>
              </p:grpSpPr>
              <p:sp>
                <p:nvSpPr>
                  <p:cNvPr id="221" name="Ellipse 220"/>
                  <p:cNvSpPr/>
                  <p:nvPr/>
                </p:nvSpPr>
                <p:spPr>
                  <a:xfrm>
                    <a:off x="4559000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2" name="Ellipse 221"/>
                  <p:cNvSpPr/>
                  <p:nvPr/>
                </p:nvSpPr>
                <p:spPr>
                  <a:xfrm>
                    <a:off x="4559000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3" name="Ellipse 222"/>
                  <p:cNvSpPr/>
                  <p:nvPr/>
                </p:nvSpPr>
                <p:spPr>
                  <a:xfrm>
                    <a:off x="4816356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4" name="Ellipse 223"/>
                  <p:cNvSpPr/>
                  <p:nvPr/>
                </p:nvSpPr>
                <p:spPr>
                  <a:xfrm>
                    <a:off x="4816356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25" name="Ellipse 224"/>
                  <p:cNvSpPr/>
                  <p:nvPr/>
                </p:nvSpPr>
                <p:spPr>
                  <a:xfrm>
                    <a:off x="4559000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17" name="ZoneTexte 216"/>
              <p:cNvSpPr txBox="1"/>
              <p:nvPr/>
            </p:nvSpPr>
            <p:spPr>
              <a:xfrm>
                <a:off x="7640274" y="1291648"/>
                <a:ext cx="65731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I=</a:t>
                </a:r>
                <a:r>
                  <a:rPr lang="fr-FR" dirty="0" err="1" smtClean="0"/>
                  <a:t>F-A</a:t>
                </a:r>
                <a:endParaRPr lang="fr-BE" dirty="0"/>
              </a:p>
            </p:txBody>
          </p:sp>
          <p:sp>
            <p:nvSpPr>
              <p:cNvPr id="218" name="Ellipse 217"/>
              <p:cNvSpPr/>
              <p:nvPr/>
            </p:nvSpPr>
            <p:spPr>
              <a:xfrm>
                <a:off x="8008797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14" name="Connecteur droit avec flèche 213"/>
            <p:cNvCxnSpPr>
              <a:stCxn id="229" idx="3"/>
              <a:endCxn id="219" idx="1"/>
            </p:cNvCxnSpPr>
            <p:nvPr/>
          </p:nvCxnSpPr>
          <p:spPr>
            <a:xfrm flipV="1">
              <a:off x="1552080" y="3071171"/>
              <a:ext cx="966406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15" name="ZoneTexte 214"/>
            <p:cNvSpPr txBox="1"/>
            <p:nvPr/>
          </p:nvSpPr>
          <p:spPr>
            <a:xfrm>
              <a:off x="1614508" y="2815197"/>
              <a:ext cx="873444" cy="492443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/>
                <a:t>Symmetry</a:t>
              </a:r>
              <a:endParaRPr lang="fr-BE" sz="1300" dirty="0"/>
            </a:p>
            <a:p>
              <a:endParaRPr lang="fr-BE" sz="1300" dirty="0"/>
            </a:p>
          </p:txBody>
        </p:sp>
      </p:grpSp>
      <p:grpSp>
        <p:nvGrpSpPr>
          <p:cNvPr id="238" name="Groupe 237"/>
          <p:cNvGrpSpPr/>
          <p:nvPr/>
        </p:nvGrpSpPr>
        <p:grpSpPr>
          <a:xfrm>
            <a:off x="4716773" y="709418"/>
            <a:ext cx="2393487" cy="1185322"/>
            <a:chOff x="890479" y="2371795"/>
            <a:chExt cx="2393487" cy="1185322"/>
          </a:xfrm>
        </p:grpSpPr>
        <p:sp>
          <p:nvSpPr>
            <p:cNvPr id="265" name="Rectangle 264"/>
            <p:cNvSpPr/>
            <p:nvPr/>
          </p:nvSpPr>
          <p:spPr>
            <a:xfrm>
              <a:off x="942450" y="2414112"/>
              <a:ext cx="2219850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266" name="Groupe 265"/>
            <p:cNvGrpSpPr/>
            <p:nvPr/>
          </p:nvGrpSpPr>
          <p:grpSpPr>
            <a:xfrm>
              <a:off x="890479" y="2375714"/>
              <a:ext cx="1310680" cy="1104817"/>
              <a:chOff x="7220756" y="1291648"/>
              <a:chExt cx="1310680" cy="1104817"/>
            </a:xfrm>
          </p:grpSpPr>
          <p:grpSp>
            <p:nvGrpSpPr>
              <p:cNvPr id="280" name="Groupe 279"/>
              <p:cNvGrpSpPr/>
              <p:nvPr/>
            </p:nvGrpSpPr>
            <p:grpSpPr>
              <a:xfrm>
                <a:off x="7376433" y="1585582"/>
                <a:ext cx="531962" cy="810883"/>
                <a:chOff x="2883559" y="1009291"/>
                <a:chExt cx="531962" cy="810883"/>
              </a:xfrm>
            </p:grpSpPr>
            <p:sp>
              <p:nvSpPr>
                <p:cNvPr id="283" name="Rectangle 282"/>
                <p:cNvSpPr/>
                <p:nvPr/>
              </p:nvSpPr>
              <p:spPr>
                <a:xfrm>
                  <a:off x="2883559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84" name="Groupe 283"/>
                <p:cNvGrpSpPr/>
                <p:nvPr/>
              </p:nvGrpSpPr>
              <p:grpSpPr>
                <a:xfrm>
                  <a:off x="2956164" y="1111370"/>
                  <a:ext cx="386752" cy="606724"/>
                  <a:chOff x="4256597" y="1561381"/>
                  <a:chExt cx="386752" cy="606724"/>
                </a:xfrm>
              </p:grpSpPr>
              <p:sp>
                <p:nvSpPr>
                  <p:cNvPr id="285" name="Ellipse 284"/>
                  <p:cNvSpPr/>
                  <p:nvPr/>
                </p:nvSpPr>
                <p:spPr>
                  <a:xfrm>
                    <a:off x="4256597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6" name="Ellipse 285"/>
                  <p:cNvSpPr/>
                  <p:nvPr/>
                </p:nvSpPr>
                <p:spPr>
                  <a:xfrm>
                    <a:off x="4256597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7" name="Ellipse 286"/>
                  <p:cNvSpPr/>
                  <p:nvPr/>
                </p:nvSpPr>
                <p:spPr>
                  <a:xfrm>
                    <a:off x="4513953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8" name="Ellipse 287"/>
                  <p:cNvSpPr/>
                  <p:nvPr/>
                </p:nvSpPr>
                <p:spPr>
                  <a:xfrm>
                    <a:off x="4513953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89" name="Ellipse 288"/>
                  <p:cNvSpPr/>
                  <p:nvPr/>
                </p:nvSpPr>
                <p:spPr>
                  <a:xfrm>
                    <a:off x="4256597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81" name="ZoneTexte 280"/>
              <p:cNvSpPr txBox="1"/>
              <p:nvPr/>
            </p:nvSpPr>
            <p:spPr>
              <a:xfrm>
                <a:off x="7220756" y="1291648"/>
                <a:ext cx="131068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F=</a:t>
                </a:r>
                <a:r>
                  <a:rPr lang="fr-FR" sz="1600" dirty="0" err="1" smtClean="0"/>
                  <a:t>SymV</a:t>
                </a:r>
                <a:r>
                  <a:rPr lang="fr-FR" dirty="0" smtClean="0"/>
                  <a:t>(</a:t>
                </a:r>
                <a:r>
                  <a:rPr lang="fr-FR" sz="1600" dirty="0" smtClean="0"/>
                  <a:t>V-A</a:t>
                </a:r>
                <a:r>
                  <a:rPr lang="fr-FR" dirty="0" smtClean="0"/>
                  <a:t>)</a:t>
                </a:r>
                <a:endParaRPr lang="fr-BE" dirty="0"/>
              </a:p>
            </p:txBody>
          </p:sp>
          <p:sp>
            <p:nvSpPr>
              <p:cNvPr id="282" name="Ellipse 281"/>
              <p:cNvSpPr/>
              <p:nvPr/>
            </p:nvSpPr>
            <p:spPr>
              <a:xfrm>
                <a:off x="7706394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67" name="Groupe 266"/>
            <p:cNvGrpSpPr/>
            <p:nvPr/>
          </p:nvGrpSpPr>
          <p:grpSpPr>
            <a:xfrm>
              <a:off x="2117556" y="2371795"/>
              <a:ext cx="1166410" cy="1104817"/>
              <a:chOff x="7277906" y="1291648"/>
              <a:chExt cx="1166410" cy="1104817"/>
            </a:xfrm>
          </p:grpSpPr>
          <p:grpSp>
            <p:nvGrpSpPr>
              <p:cNvPr id="270" name="Groupe 269"/>
              <p:cNvGrpSpPr/>
              <p:nvPr/>
            </p:nvGrpSpPr>
            <p:grpSpPr>
              <a:xfrm>
                <a:off x="7681233" y="1585582"/>
                <a:ext cx="531962" cy="810883"/>
                <a:chOff x="3188359" y="1009291"/>
                <a:chExt cx="531962" cy="810883"/>
              </a:xfrm>
            </p:grpSpPr>
            <p:sp>
              <p:nvSpPr>
                <p:cNvPr id="273" name="Rectangle 272"/>
                <p:cNvSpPr/>
                <p:nvPr/>
              </p:nvSpPr>
              <p:spPr>
                <a:xfrm>
                  <a:off x="3188359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74" name="Groupe 273"/>
                <p:cNvGrpSpPr/>
                <p:nvPr/>
              </p:nvGrpSpPr>
              <p:grpSpPr>
                <a:xfrm>
                  <a:off x="3260964" y="1111370"/>
                  <a:ext cx="386752" cy="606724"/>
                  <a:chOff x="4561397" y="1561381"/>
                  <a:chExt cx="386752" cy="606724"/>
                </a:xfrm>
              </p:grpSpPr>
              <p:sp>
                <p:nvSpPr>
                  <p:cNvPr id="275" name="Ellipse 274"/>
                  <p:cNvSpPr/>
                  <p:nvPr/>
                </p:nvSpPr>
                <p:spPr>
                  <a:xfrm>
                    <a:off x="4561397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6" name="Ellipse 275"/>
                  <p:cNvSpPr/>
                  <p:nvPr/>
                </p:nvSpPr>
                <p:spPr>
                  <a:xfrm>
                    <a:off x="4561397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7" name="Ellipse 276"/>
                  <p:cNvSpPr/>
                  <p:nvPr/>
                </p:nvSpPr>
                <p:spPr>
                  <a:xfrm>
                    <a:off x="4818753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8" name="Ellipse 277"/>
                  <p:cNvSpPr/>
                  <p:nvPr/>
                </p:nvSpPr>
                <p:spPr>
                  <a:xfrm>
                    <a:off x="4818753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79" name="Ellipse 278"/>
                  <p:cNvSpPr/>
                  <p:nvPr/>
                </p:nvSpPr>
                <p:spPr>
                  <a:xfrm>
                    <a:off x="4561397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71" name="ZoneTexte 270"/>
              <p:cNvSpPr txBox="1"/>
              <p:nvPr/>
            </p:nvSpPr>
            <p:spPr>
              <a:xfrm>
                <a:off x="7277906" y="1291648"/>
                <a:ext cx="116641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D=</a:t>
                </a:r>
                <a:r>
                  <a:rPr lang="fr-FR" sz="1600" dirty="0" err="1" smtClean="0"/>
                  <a:t>SymH</a:t>
                </a:r>
                <a:r>
                  <a:rPr lang="fr-FR" dirty="0" smtClean="0"/>
                  <a:t>(F)</a:t>
                </a:r>
                <a:endParaRPr lang="fr-BE" dirty="0"/>
              </a:p>
            </p:txBody>
          </p:sp>
          <p:sp>
            <p:nvSpPr>
              <p:cNvPr id="272" name="Ellipse 271"/>
              <p:cNvSpPr/>
              <p:nvPr/>
            </p:nvSpPr>
            <p:spPr>
              <a:xfrm>
                <a:off x="8011194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68" name="Connecteur droit avec flèche 267"/>
            <p:cNvCxnSpPr>
              <a:stCxn id="283" idx="3"/>
              <a:endCxn id="273" idx="1"/>
            </p:cNvCxnSpPr>
            <p:nvPr/>
          </p:nvCxnSpPr>
          <p:spPr>
            <a:xfrm flipV="1">
              <a:off x="1578118" y="3071171"/>
              <a:ext cx="942765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69" name="ZoneTexte 268"/>
            <p:cNvSpPr txBox="1"/>
            <p:nvPr/>
          </p:nvSpPr>
          <p:spPr>
            <a:xfrm>
              <a:off x="1628247" y="2815197"/>
              <a:ext cx="184731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endParaRPr lang="fr-BE" sz="1300" dirty="0"/>
            </a:p>
          </p:txBody>
        </p:sp>
      </p:grpSp>
      <p:grpSp>
        <p:nvGrpSpPr>
          <p:cNvPr id="239" name="Groupe 238"/>
          <p:cNvGrpSpPr/>
          <p:nvPr/>
        </p:nvGrpSpPr>
        <p:grpSpPr>
          <a:xfrm>
            <a:off x="4714851" y="2211891"/>
            <a:ext cx="2272500" cy="1185322"/>
            <a:chOff x="889944" y="2371795"/>
            <a:chExt cx="2272500" cy="1185322"/>
          </a:xfrm>
        </p:grpSpPr>
        <p:sp>
          <p:nvSpPr>
            <p:cNvPr id="240" name="Rectangle 239"/>
            <p:cNvSpPr/>
            <p:nvPr/>
          </p:nvSpPr>
          <p:spPr>
            <a:xfrm>
              <a:off x="943838" y="2414112"/>
              <a:ext cx="2218606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241" name="Groupe 240"/>
            <p:cNvGrpSpPr/>
            <p:nvPr/>
          </p:nvGrpSpPr>
          <p:grpSpPr>
            <a:xfrm>
              <a:off x="889944" y="2375714"/>
              <a:ext cx="1135952" cy="1104817"/>
              <a:chOff x="7220221" y="1291648"/>
              <a:chExt cx="1135952" cy="1104817"/>
            </a:xfrm>
          </p:grpSpPr>
          <p:grpSp>
            <p:nvGrpSpPr>
              <p:cNvPr id="255" name="Groupe 254"/>
              <p:cNvGrpSpPr/>
              <p:nvPr/>
            </p:nvGrpSpPr>
            <p:grpSpPr>
              <a:xfrm>
                <a:off x="7433048" y="1585582"/>
                <a:ext cx="531962" cy="810883"/>
                <a:chOff x="2940174" y="1009291"/>
                <a:chExt cx="531962" cy="810883"/>
              </a:xfrm>
            </p:grpSpPr>
            <p:sp>
              <p:nvSpPr>
                <p:cNvPr id="258" name="Rectangle 257"/>
                <p:cNvSpPr/>
                <p:nvPr/>
              </p:nvSpPr>
              <p:spPr>
                <a:xfrm>
                  <a:off x="294017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59" name="Groupe 258"/>
                <p:cNvGrpSpPr/>
                <p:nvPr/>
              </p:nvGrpSpPr>
              <p:grpSpPr>
                <a:xfrm>
                  <a:off x="3012779" y="1111370"/>
                  <a:ext cx="386752" cy="606724"/>
                  <a:chOff x="4313212" y="1561381"/>
                  <a:chExt cx="386752" cy="606724"/>
                </a:xfrm>
              </p:grpSpPr>
              <p:sp>
                <p:nvSpPr>
                  <p:cNvPr id="260" name="Ellipse 259"/>
                  <p:cNvSpPr/>
                  <p:nvPr/>
                </p:nvSpPr>
                <p:spPr>
                  <a:xfrm>
                    <a:off x="4313212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1" name="Ellipse 260"/>
                  <p:cNvSpPr/>
                  <p:nvPr/>
                </p:nvSpPr>
                <p:spPr>
                  <a:xfrm>
                    <a:off x="4313212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2" name="Ellipse 261"/>
                  <p:cNvSpPr/>
                  <p:nvPr/>
                </p:nvSpPr>
                <p:spPr>
                  <a:xfrm>
                    <a:off x="4570568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3" name="Ellipse 262"/>
                  <p:cNvSpPr/>
                  <p:nvPr/>
                </p:nvSpPr>
                <p:spPr>
                  <a:xfrm>
                    <a:off x="457056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64" name="Ellipse 263"/>
                  <p:cNvSpPr/>
                  <p:nvPr/>
                </p:nvSpPr>
                <p:spPr>
                  <a:xfrm>
                    <a:off x="4313212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56" name="ZoneTexte 255"/>
              <p:cNvSpPr txBox="1"/>
              <p:nvPr/>
            </p:nvSpPr>
            <p:spPr>
              <a:xfrm>
                <a:off x="7220221" y="1291648"/>
                <a:ext cx="113595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H=</a:t>
                </a:r>
                <a:r>
                  <a:rPr lang="fr-FR" sz="1600" dirty="0" err="1" smtClean="0"/>
                  <a:t>SymH</a:t>
                </a:r>
                <a:r>
                  <a:rPr lang="fr-FR" dirty="0" smtClean="0"/>
                  <a:t>(</a:t>
                </a:r>
                <a:r>
                  <a:rPr lang="fr-FR" dirty="0"/>
                  <a:t>J</a:t>
                </a:r>
                <a:r>
                  <a:rPr lang="fr-FR" dirty="0" smtClean="0"/>
                  <a:t>)</a:t>
                </a:r>
                <a:endParaRPr lang="fr-BE" dirty="0"/>
              </a:p>
            </p:txBody>
          </p:sp>
          <p:sp>
            <p:nvSpPr>
              <p:cNvPr id="257" name="Ellipse 256"/>
              <p:cNvSpPr/>
              <p:nvPr/>
            </p:nvSpPr>
            <p:spPr>
              <a:xfrm>
                <a:off x="7763009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242" name="Groupe 241"/>
            <p:cNvGrpSpPr/>
            <p:nvPr/>
          </p:nvGrpSpPr>
          <p:grpSpPr>
            <a:xfrm>
              <a:off x="2386225" y="2371795"/>
              <a:ext cx="776175" cy="1104817"/>
              <a:chOff x="7546575" y="1291648"/>
              <a:chExt cx="776175" cy="1104817"/>
            </a:xfrm>
          </p:grpSpPr>
          <p:grpSp>
            <p:nvGrpSpPr>
              <p:cNvPr id="245" name="Groupe 244"/>
              <p:cNvGrpSpPr/>
              <p:nvPr/>
            </p:nvGrpSpPr>
            <p:grpSpPr>
              <a:xfrm>
                <a:off x="7683202" y="1585582"/>
                <a:ext cx="531962" cy="810883"/>
                <a:chOff x="3190328" y="1009291"/>
                <a:chExt cx="531962" cy="810883"/>
              </a:xfrm>
            </p:grpSpPr>
            <p:sp>
              <p:nvSpPr>
                <p:cNvPr id="248" name="Rectangle 247"/>
                <p:cNvSpPr/>
                <p:nvPr/>
              </p:nvSpPr>
              <p:spPr>
                <a:xfrm>
                  <a:off x="3190328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249" name="Groupe 248"/>
                <p:cNvGrpSpPr/>
                <p:nvPr/>
              </p:nvGrpSpPr>
              <p:grpSpPr>
                <a:xfrm>
                  <a:off x="3262933" y="1111370"/>
                  <a:ext cx="386752" cy="606724"/>
                  <a:chOff x="4563366" y="1561381"/>
                  <a:chExt cx="386752" cy="606724"/>
                </a:xfrm>
              </p:grpSpPr>
              <p:sp>
                <p:nvSpPr>
                  <p:cNvPr id="250" name="Ellipse 249"/>
                  <p:cNvSpPr/>
                  <p:nvPr/>
                </p:nvSpPr>
                <p:spPr>
                  <a:xfrm>
                    <a:off x="4563366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1" name="Ellipse 250"/>
                  <p:cNvSpPr/>
                  <p:nvPr/>
                </p:nvSpPr>
                <p:spPr>
                  <a:xfrm>
                    <a:off x="4563366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2" name="Ellipse 251"/>
                  <p:cNvSpPr/>
                  <p:nvPr/>
                </p:nvSpPr>
                <p:spPr>
                  <a:xfrm>
                    <a:off x="4820722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3" name="Ellipse 252"/>
                  <p:cNvSpPr/>
                  <p:nvPr/>
                </p:nvSpPr>
                <p:spPr>
                  <a:xfrm>
                    <a:off x="4820722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254" name="Ellipse 253"/>
                  <p:cNvSpPr/>
                  <p:nvPr/>
                </p:nvSpPr>
                <p:spPr>
                  <a:xfrm>
                    <a:off x="4563366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246" name="ZoneTexte 245"/>
              <p:cNvSpPr txBox="1"/>
              <p:nvPr/>
            </p:nvSpPr>
            <p:spPr>
              <a:xfrm>
                <a:off x="7546575" y="1291648"/>
                <a:ext cx="7761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/>
                  <a:t> </a:t>
                </a:r>
                <a:r>
                  <a:rPr lang="fr-FR" dirty="0" smtClean="0"/>
                  <a:t>J=G-A</a:t>
                </a:r>
                <a:endParaRPr lang="fr-BE" dirty="0"/>
              </a:p>
            </p:txBody>
          </p:sp>
          <p:sp>
            <p:nvSpPr>
              <p:cNvPr id="247" name="Ellipse 246"/>
              <p:cNvSpPr/>
              <p:nvPr/>
            </p:nvSpPr>
            <p:spPr>
              <a:xfrm>
                <a:off x="8013163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243" name="Connecteur droit avec flèche 242"/>
            <p:cNvCxnSpPr>
              <a:stCxn id="258" idx="3"/>
              <a:endCxn id="248" idx="1"/>
            </p:cNvCxnSpPr>
            <p:nvPr/>
          </p:nvCxnSpPr>
          <p:spPr>
            <a:xfrm flipV="1">
              <a:off x="1634733" y="3071171"/>
              <a:ext cx="888119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44" name="ZoneTexte 243"/>
            <p:cNvSpPr txBox="1"/>
            <p:nvPr/>
          </p:nvSpPr>
          <p:spPr>
            <a:xfrm>
              <a:off x="1619621" y="2815197"/>
              <a:ext cx="8734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 smtClean="0"/>
                <a:t>Symmetry</a:t>
              </a:r>
              <a:endParaRPr lang="fr-BE" sz="1300" dirty="0"/>
            </a:p>
          </p:txBody>
        </p:sp>
      </p:grpSp>
      <p:cxnSp>
        <p:nvCxnSpPr>
          <p:cNvPr id="65" name="Connecteur droit avec flèche 64"/>
          <p:cNvCxnSpPr>
            <a:stCxn id="265" idx="2"/>
            <a:endCxn id="240" idx="0"/>
          </p:cNvCxnSpPr>
          <p:nvPr/>
        </p:nvCxnSpPr>
        <p:spPr>
          <a:xfrm flipH="1">
            <a:off x="5878048" y="1894740"/>
            <a:ext cx="621" cy="359468"/>
          </a:xfrm>
          <a:prstGeom prst="straightConnector1">
            <a:avLst/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3" name="ZoneTexte 342"/>
          <p:cNvSpPr txBox="1"/>
          <p:nvPr/>
        </p:nvSpPr>
        <p:spPr>
          <a:xfrm>
            <a:off x="5467939" y="1928169"/>
            <a:ext cx="87344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/>
              <a:t>Symmetry</a:t>
            </a:r>
            <a:endParaRPr lang="fr-BE" sz="1300" dirty="0"/>
          </a:p>
        </p:txBody>
      </p:sp>
      <p:grpSp>
        <p:nvGrpSpPr>
          <p:cNvPr id="344" name="Groupe 343"/>
          <p:cNvGrpSpPr/>
          <p:nvPr/>
        </p:nvGrpSpPr>
        <p:grpSpPr>
          <a:xfrm>
            <a:off x="7214999" y="701143"/>
            <a:ext cx="2599064" cy="1185322"/>
            <a:chOff x="938104" y="2371795"/>
            <a:chExt cx="2599064" cy="1185322"/>
          </a:xfrm>
        </p:grpSpPr>
        <p:sp>
          <p:nvSpPr>
            <p:cNvPr id="345" name="Rectangle 344"/>
            <p:cNvSpPr/>
            <p:nvPr/>
          </p:nvSpPr>
          <p:spPr>
            <a:xfrm>
              <a:off x="943663" y="2414112"/>
              <a:ext cx="2504467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346" name="Groupe 345"/>
            <p:cNvGrpSpPr/>
            <p:nvPr/>
          </p:nvGrpSpPr>
          <p:grpSpPr>
            <a:xfrm>
              <a:off x="938104" y="2375714"/>
              <a:ext cx="805029" cy="1104817"/>
              <a:chOff x="7268381" y="1291648"/>
              <a:chExt cx="805029" cy="1104817"/>
            </a:xfrm>
          </p:grpSpPr>
          <p:grpSp>
            <p:nvGrpSpPr>
              <p:cNvPr id="360" name="Groupe 359"/>
              <p:cNvGrpSpPr/>
              <p:nvPr/>
            </p:nvGrpSpPr>
            <p:grpSpPr>
              <a:xfrm>
                <a:off x="7385958" y="1585582"/>
                <a:ext cx="531962" cy="810883"/>
                <a:chOff x="2893084" y="1009291"/>
                <a:chExt cx="531962" cy="810883"/>
              </a:xfrm>
            </p:grpSpPr>
            <p:sp>
              <p:nvSpPr>
                <p:cNvPr id="363" name="Rectangle 362"/>
                <p:cNvSpPr/>
                <p:nvPr/>
              </p:nvSpPr>
              <p:spPr>
                <a:xfrm>
                  <a:off x="289308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64" name="Groupe 363"/>
                <p:cNvGrpSpPr/>
                <p:nvPr/>
              </p:nvGrpSpPr>
              <p:grpSpPr>
                <a:xfrm>
                  <a:off x="2965689" y="1111370"/>
                  <a:ext cx="386752" cy="606724"/>
                  <a:chOff x="4266122" y="1561381"/>
                  <a:chExt cx="386752" cy="606724"/>
                </a:xfrm>
              </p:grpSpPr>
              <p:sp>
                <p:nvSpPr>
                  <p:cNvPr id="365" name="Ellipse 364"/>
                  <p:cNvSpPr/>
                  <p:nvPr/>
                </p:nvSpPr>
                <p:spPr>
                  <a:xfrm>
                    <a:off x="4266122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6" name="Ellipse 365"/>
                  <p:cNvSpPr/>
                  <p:nvPr/>
                </p:nvSpPr>
                <p:spPr>
                  <a:xfrm>
                    <a:off x="4266122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7" name="Ellipse 366"/>
                  <p:cNvSpPr/>
                  <p:nvPr/>
                </p:nvSpPr>
                <p:spPr>
                  <a:xfrm>
                    <a:off x="4523478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8" name="Ellipse 367"/>
                  <p:cNvSpPr/>
                  <p:nvPr/>
                </p:nvSpPr>
                <p:spPr>
                  <a:xfrm>
                    <a:off x="452347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69" name="Ellipse 368"/>
                  <p:cNvSpPr/>
                  <p:nvPr/>
                </p:nvSpPr>
                <p:spPr>
                  <a:xfrm>
                    <a:off x="426612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61" name="ZoneTexte 360"/>
              <p:cNvSpPr txBox="1"/>
              <p:nvPr/>
            </p:nvSpPr>
            <p:spPr>
              <a:xfrm>
                <a:off x="7268381" y="1291648"/>
                <a:ext cx="80502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R=</a:t>
                </a:r>
                <a:r>
                  <a:rPr lang="fr-FR" dirty="0" err="1" smtClean="0"/>
                  <a:t>K+H</a:t>
                </a:r>
                <a:endParaRPr lang="fr-BE" dirty="0"/>
              </a:p>
            </p:txBody>
          </p:sp>
          <p:sp>
            <p:nvSpPr>
              <p:cNvPr id="362" name="Ellipse 361"/>
              <p:cNvSpPr/>
              <p:nvPr/>
            </p:nvSpPr>
            <p:spPr>
              <a:xfrm>
                <a:off x="7715919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47" name="Groupe 346"/>
            <p:cNvGrpSpPr/>
            <p:nvPr/>
          </p:nvGrpSpPr>
          <p:grpSpPr>
            <a:xfrm>
              <a:off x="2289006" y="2371795"/>
              <a:ext cx="1248162" cy="1104817"/>
              <a:chOff x="7449356" y="1291648"/>
              <a:chExt cx="1248162" cy="1104817"/>
            </a:xfrm>
          </p:grpSpPr>
          <p:grpSp>
            <p:nvGrpSpPr>
              <p:cNvPr id="350" name="Groupe 349"/>
              <p:cNvGrpSpPr/>
              <p:nvPr/>
            </p:nvGrpSpPr>
            <p:grpSpPr>
              <a:xfrm>
                <a:off x="7738383" y="1585582"/>
                <a:ext cx="531962" cy="810883"/>
                <a:chOff x="3245509" y="1009291"/>
                <a:chExt cx="531962" cy="810883"/>
              </a:xfrm>
            </p:grpSpPr>
            <p:sp>
              <p:nvSpPr>
                <p:cNvPr id="353" name="Rectangle 352"/>
                <p:cNvSpPr/>
                <p:nvPr/>
              </p:nvSpPr>
              <p:spPr>
                <a:xfrm>
                  <a:off x="3245509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54" name="Groupe 353"/>
                <p:cNvGrpSpPr/>
                <p:nvPr/>
              </p:nvGrpSpPr>
              <p:grpSpPr>
                <a:xfrm>
                  <a:off x="3318114" y="1111370"/>
                  <a:ext cx="386752" cy="606724"/>
                  <a:chOff x="4618547" y="1561381"/>
                  <a:chExt cx="386752" cy="606724"/>
                </a:xfrm>
              </p:grpSpPr>
              <p:sp>
                <p:nvSpPr>
                  <p:cNvPr id="355" name="Ellipse 354"/>
                  <p:cNvSpPr/>
                  <p:nvPr/>
                </p:nvSpPr>
                <p:spPr>
                  <a:xfrm>
                    <a:off x="4618547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6" name="Ellipse 355"/>
                  <p:cNvSpPr/>
                  <p:nvPr/>
                </p:nvSpPr>
                <p:spPr>
                  <a:xfrm>
                    <a:off x="4618547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7" name="Ellipse 356"/>
                  <p:cNvSpPr/>
                  <p:nvPr/>
                </p:nvSpPr>
                <p:spPr>
                  <a:xfrm>
                    <a:off x="4875903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8" name="Ellipse 357"/>
                  <p:cNvSpPr/>
                  <p:nvPr/>
                </p:nvSpPr>
                <p:spPr>
                  <a:xfrm>
                    <a:off x="4875903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59" name="Ellipse 358"/>
                  <p:cNvSpPr/>
                  <p:nvPr/>
                </p:nvSpPr>
                <p:spPr>
                  <a:xfrm>
                    <a:off x="4618547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51" name="ZoneTexte 350"/>
              <p:cNvSpPr txBox="1"/>
              <p:nvPr/>
            </p:nvSpPr>
            <p:spPr>
              <a:xfrm>
                <a:off x="7449356" y="1291648"/>
                <a:ext cx="124816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W=</a:t>
                </a:r>
                <a:r>
                  <a:rPr lang="fr-FR" sz="1600" dirty="0" err="1" smtClean="0"/>
                  <a:t>SymH</a:t>
                </a:r>
                <a:r>
                  <a:rPr lang="fr-FR" dirty="0" smtClean="0"/>
                  <a:t>(R)</a:t>
                </a:r>
                <a:endParaRPr lang="fr-BE" dirty="0"/>
              </a:p>
            </p:txBody>
          </p:sp>
          <p:sp>
            <p:nvSpPr>
              <p:cNvPr id="352" name="Ellipse 351"/>
              <p:cNvSpPr/>
              <p:nvPr/>
            </p:nvSpPr>
            <p:spPr>
              <a:xfrm>
                <a:off x="8068344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48" name="Connecteur droit avec flèche 347"/>
            <p:cNvCxnSpPr>
              <a:stCxn id="363" idx="3"/>
              <a:endCxn id="353" idx="1"/>
            </p:cNvCxnSpPr>
            <p:nvPr/>
          </p:nvCxnSpPr>
          <p:spPr>
            <a:xfrm flipV="1">
              <a:off x="1587643" y="3071171"/>
              <a:ext cx="990390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9" name="ZoneTexte 348"/>
            <p:cNvSpPr txBox="1"/>
            <p:nvPr/>
          </p:nvSpPr>
          <p:spPr>
            <a:xfrm>
              <a:off x="1645499" y="2815197"/>
              <a:ext cx="8734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 smtClean="0"/>
                <a:t>Symmetry</a:t>
              </a:r>
              <a:endParaRPr lang="fr-BE" sz="1300" dirty="0"/>
            </a:p>
          </p:txBody>
        </p:sp>
      </p:grpSp>
      <p:grpSp>
        <p:nvGrpSpPr>
          <p:cNvPr id="370" name="Groupe 369"/>
          <p:cNvGrpSpPr/>
          <p:nvPr/>
        </p:nvGrpSpPr>
        <p:grpSpPr>
          <a:xfrm>
            <a:off x="7220558" y="2203433"/>
            <a:ext cx="2588515" cy="1185322"/>
            <a:chOff x="943728" y="2371795"/>
            <a:chExt cx="2588515" cy="1185322"/>
          </a:xfrm>
        </p:grpSpPr>
        <p:sp>
          <p:nvSpPr>
            <p:cNvPr id="371" name="Rectangle 370"/>
            <p:cNvSpPr/>
            <p:nvPr/>
          </p:nvSpPr>
          <p:spPr>
            <a:xfrm>
              <a:off x="943728" y="2414112"/>
              <a:ext cx="2500260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372" name="Groupe 371"/>
            <p:cNvGrpSpPr/>
            <p:nvPr/>
          </p:nvGrpSpPr>
          <p:grpSpPr>
            <a:xfrm>
              <a:off x="951589" y="2375714"/>
              <a:ext cx="772969" cy="1104817"/>
              <a:chOff x="7281866" y="1291648"/>
              <a:chExt cx="772969" cy="1104817"/>
            </a:xfrm>
          </p:grpSpPr>
          <p:grpSp>
            <p:nvGrpSpPr>
              <p:cNvPr id="386" name="Groupe 385"/>
              <p:cNvGrpSpPr/>
              <p:nvPr/>
            </p:nvGrpSpPr>
            <p:grpSpPr>
              <a:xfrm>
                <a:off x="7389918" y="1585582"/>
                <a:ext cx="531962" cy="810883"/>
                <a:chOff x="2897044" y="1009291"/>
                <a:chExt cx="531962" cy="810883"/>
              </a:xfrm>
            </p:grpSpPr>
            <p:sp>
              <p:nvSpPr>
                <p:cNvPr id="389" name="Rectangle 388"/>
                <p:cNvSpPr/>
                <p:nvPr/>
              </p:nvSpPr>
              <p:spPr>
                <a:xfrm>
                  <a:off x="2897044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90" name="Groupe 389"/>
                <p:cNvGrpSpPr/>
                <p:nvPr/>
              </p:nvGrpSpPr>
              <p:grpSpPr>
                <a:xfrm>
                  <a:off x="2969649" y="1111370"/>
                  <a:ext cx="386752" cy="606724"/>
                  <a:chOff x="4270082" y="1561381"/>
                  <a:chExt cx="386752" cy="606724"/>
                </a:xfrm>
              </p:grpSpPr>
              <p:sp>
                <p:nvSpPr>
                  <p:cNvPr id="391" name="Ellipse 390"/>
                  <p:cNvSpPr/>
                  <p:nvPr/>
                </p:nvSpPr>
                <p:spPr>
                  <a:xfrm>
                    <a:off x="4270082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2" name="Ellipse 391"/>
                  <p:cNvSpPr/>
                  <p:nvPr/>
                </p:nvSpPr>
                <p:spPr>
                  <a:xfrm>
                    <a:off x="4270082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3" name="Ellipse 392"/>
                  <p:cNvSpPr/>
                  <p:nvPr/>
                </p:nvSpPr>
                <p:spPr>
                  <a:xfrm>
                    <a:off x="4527438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4" name="Ellipse 393"/>
                  <p:cNvSpPr/>
                  <p:nvPr/>
                </p:nvSpPr>
                <p:spPr>
                  <a:xfrm>
                    <a:off x="452743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95" name="Ellipse 394"/>
                  <p:cNvSpPr/>
                  <p:nvPr/>
                </p:nvSpPr>
                <p:spPr>
                  <a:xfrm>
                    <a:off x="427008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87" name="ZoneTexte 386"/>
              <p:cNvSpPr txBox="1"/>
              <p:nvPr/>
            </p:nvSpPr>
            <p:spPr>
              <a:xfrm>
                <a:off x="7281866" y="1291648"/>
                <a:ext cx="772969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P=</a:t>
                </a:r>
                <a:r>
                  <a:rPr lang="fr-FR" dirty="0" err="1"/>
                  <a:t>S</a:t>
                </a:r>
                <a:r>
                  <a:rPr lang="fr-FR" dirty="0" err="1" smtClean="0"/>
                  <a:t>+A</a:t>
                </a:r>
                <a:endParaRPr lang="fr-BE" dirty="0"/>
              </a:p>
            </p:txBody>
          </p:sp>
          <p:sp>
            <p:nvSpPr>
              <p:cNvPr id="388" name="Ellipse 387"/>
              <p:cNvSpPr/>
              <p:nvPr/>
            </p:nvSpPr>
            <p:spPr>
              <a:xfrm>
                <a:off x="7719879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373" name="Groupe 372"/>
            <p:cNvGrpSpPr/>
            <p:nvPr/>
          </p:nvGrpSpPr>
          <p:grpSpPr>
            <a:xfrm>
              <a:off x="2375451" y="2371795"/>
              <a:ext cx="1156792" cy="1104817"/>
              <a:chOff x="7535801" y="1291648"/>
              <a:chExt cx="1156792" cy="1104817"/>
            </a:xfrm>
          </p:grpSpPr>
          <p:grpSp>
            <p:nvGrpSpPr>
              <p:cNvPr id="376" name="Groupe 375"/>
              <p:cNvGrpSpPr/>
              <p:nvPr/>
            </p:nvGrpSpPr>
            <p:grpSpPr>
              <a:xfrm>
                <a:off x="7786728" y="1585582"/>
                <a:ext cx="531962" cy="810883"/>
                <a:chOff x="3293854" y="1009291"/>
                <a:chExt cx="531962" cy="810883"/>
              </a:xfrm>
            </p:grpSpPr>
            <p:sp>
              <p:nvSpPr>
                <p:cNvPr id="379" name="Rectangle 378"/>
                <p:cNvSpPr/>
                <p:nvPr/>
              </p:nvSpPr>
              <p:spPr>
                <a:xfrm>
                  <a:off x="3293854" y="1009291"/>
                  <a:ext cx="531962" cy="810883"/>
                </a:xfrm>
                <a:prstGeom prst="rect">
                  <a:avLst/>
                </a:prstGeom>
                <a:solidFill>
                  <a:schemeClr val="accent1">
                    <a:lumMod val="20000"/>
                    <a:lumOff val="80000"/>
                  </a:schemeClr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380" name="Groupe 379"/>
                <p:cNvGrpSpPr/>
                <p:nvPr/>
              </p:nvGrpSpPr>
              <p:grpSpPr>
                <a:xfrm>
                  <a:off x="3366459" y="1111370"/>
                  <a:ext cx="386752" cy="606724"/>
                  <a:chOff x="4666892" y="1561381"/>
                  <a:chExt cx="386752" cy="606724"/>
                </a:xfrm>
              </p:grpSpPr>
              <p:sp>
                <p:nvSpPr>
                  <p:cNvPr id="381" name="Ellipse 380"/>
                  <p:cNvSpPr/>
                  <p:nvPr/>
                </p:nvSpPr>
                <p:spPr>
                  <a:xfrm>
                    <a:off x="4666892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2" name="Ellipse 381"/>
                  <p:cNvSpPr/>
                  <p:nvPr/>
                </p:nvSpPr>
                <p:spPr>
                  <a:xfrm>
                    <a:off x="4666892" y="1800045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3" name="Ellipse 382"/>
                  <p:cNvSpPr/>
                  <p:nvPr/>
                </p:nvSpPr>
                <p:spPr>
                  <a:xfrm>
                    <a:off x="4924248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4" name="Ellipse 383"/>
                  <p:cNvSpPr/>
                  <p:nvPr/>
                </p:nvSpPr>
                <p:spPr>
                  <a:xfrm>
                    <a:off x="4924248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385" name="Ellipse 384"/>
                  <p:cNvSpPr/>
                  <p:nvPr/>
                </p:nvSpPr>
                <p:spPr>
                  <a:xfrm>
                    <a:off x="466689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377" name="ZoneTexte 376"/>
              <p:cNvSpPr txBox="1"/>
              <p:nvPr/>
            </p:nvSpPr>
            <p:spPr>
              <a:xfrm>
                <a:off x="7535801" y="1291648"/>
                <a:ext cx="1156792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V=</a:t>
                </a:r>
                <a:r>
                  <a:rPr lang="fr-FR" sz="1600" dirty="0" err="1" smtClean="0"/>
                  <a:t>SymV</a:t>
                </a:r>
                <a:r>
                  <a:rPr lang="fr-FR" dirty="0" smtClean="0"/>
                  <a:t>(P)</a:t>
                </a:r>
                <a:endParaRPr lang="fr-BE" dirty="0"/>
              </a:p>
            </p:txBody>
          </p:sp>
          <p:sp>
            <p:nvSpPr>
              <p:cNvPr id="378" name="Ellipse 377"/>
              <p:cNvSpPr/>
              <p:nvPr/>
            </p:nvSpPr>
            <p:spPr>
              <a:xfrm>
                <a:off x="8116689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374" name="Connecteur droit avec flèche 373"/>
            <p:cNvCxnSpPr>
              <a:stCxn id="389" idx="3"/>
              <a:endCxn id="379" idx="1"/>
            </p:cNvCxnSpPr>
            <p:nvPr/>
          </p:nvCxnSpPr>
          <p:spPr>
            <a:xfrm flipV="1">
              <a:off x="1591603" y="3071171"/>
              <a:ext cx="1034775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75" name="ZoneTexte 374"/>
            <p:cNvSpPr txBox="1"/>
            <p:nvPr/>
          </p:nvSpPr>
          <p:spPr>
            <a:xfrm>
              <a:off x="1675872" y="2832449"/>
              <a:ext cx="8734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 smtClean="0"/>
                <a:t>Symmetry</a:t>
              </a:r>
              <a:endParaRPr lang="fr-BE" sz="1300" dirty="0"/>
            </a:p>
          </p:txBody>
        </p:sp>
      </p:grpSp>
      <p:grpSp>
        <p:nvGrpSpPr>
          <p:cNvPr id="396" name="Groupe 395"/>
          <p:cNvGrpSpPr/>
          <p:nvPr/>
        </p:nvGrpSpPr>
        <p:grpSpPr>
          <a:xfrm>
            <a:off x="2936151" y="4203789"/>
            <a:ext cx="667170" cy="1104817"/>
            <a:chOff x="7458881" y="1291648"/>
            <a:chExt cx="667170" cy="1104817"/>
          </a:xfrm>
        </p:grpSpPr>
        <p:grpSp>
          <p:nvGrpSpPr>
            <p:cNvPr id="397" name="Groupe 396"/>
            <p:cNvGrpSpPr/>
            <p:nvPr/>
          </p:nvGrpSpPr>
          <p:grpSpPr>
            <a:xfrm>
              <a:off x="7519308" y="1585582"/>
              <a:ext cx="531962" cy="810883"/>
              <a:chOff x="3026434" y="1009291"/>
              <a:chExt cx="531962" cy="810883"/>
            </a:xfrm>
          </p:grpSpPr>
          <p:sp>
            <p:nvSpPr>
              <p:cNvPr id="400" name="Rectangle 399"/>
              <p:cNvSpPr/>
              <p:nvPr/>
            </p:nvSpPr>
            <p:spPr>
              <a:xfrm>
                <a:off x="3026434" y="1009291"/>
                <a:ext cx="531962" cy="8108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01" name="Groupe 400"/>
              <p:cNvGrpSpPr/>
              <p:nvPr/>
            </p:nvGrpSpPr>
            <p:grpSpPr>
              <a:xfrm>
                <a:off x="3099039" y="1111370"/>
                <a:ext cx="386752" cy="606724"/>
                <a:chOff x="4399472" y="1561381"/>
                <a:chExt cx="386752" cy="606724"/>
              </a:xfrm>
            </p:grpSpPr>
            <p:sp>
              <p:nvSpPr>
                <p:cNvPr id="402" name="Ellipse 401"/>
                <p:cNvSpPr/>
                <p:nvPr/>
              </p:nvSpPr>
              <p:spPr>
                <a:xfrm>
                  <a:off x="439947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3" name="Ellipse 402"/>
                <p:cNvSpPr/>
                <p:nvPr/>
              </p:nvSpPr>
              <p:spPr>
                <a:xfrm>
                  <a:off x="4399472" y="1800045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4" name="Ellipse 403"/>
                <p:cNvSpPr/>
                <p:nvPr/>
              </p:nvSpPr>
              <p:spPr>
                <a:xfrm>
                  <a:off x="4656828" y="1561381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5" name="Ellipse 404"/>
                <p:cNvSpPr/>
                <p:nvPr/>
              </p:nvSpPr>
              <p:spPr>
                <a:xfrm>
                  <a:off x="465682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06" name="Ellipse 405"/>
                <p:cNvSpPr/>
                <p:nvPr/>
              </p:nvSpPr>
              <p:spPr>
                <a:xfrm>
                  <a:off x="439947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398" name="ZoneTexte 397"/>
            <p:cNvSpPr txBox="1"/>
            <p:nvPr/>
          </p:nvSpPr>
          <p:spPr>
            <a:xfrm>
              <a:off x="7458881" y="1291648"/>
              <a:ext cx="66717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K=</a:t>
              </a:r>
              <a:r>
                <a:rPr lang="fr-FR" dirty="0" err="1" smtClean="0"/>
                <a:t>P-I</a:t>
              </a:r>
              <a:endParaRPr lang="fr-BE" dirty="0"/>
            </a:p>
          </p:txBody>
        </p:sp>
        <p:sp>
          <p:nvSpPr>
            <p:cNvPr id="399" name="Ellipse 398"/>
            <p:cNvSpPr/>
            <p:nvPr/>
          </p:nvSpPr>
          <p:spPr>
            <a:xfrm>
              <a:off x="7849269" y="1927521"/>
              <a:ext cx="129396" cy="1293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08" name="Groupe 407"/>
          <p:cNvGrpSpPr/>
          <p:nvPr/>
        </p:nvGrpSpPr>
        <p:grpSpPr>
          <a:xfrm>
            <a:off x="4648879" y="5116433"/>
            <a:ext cx="800219" cy="1104817"/>
            <a:chOff x="7272341" y="1291648"/>
            <a:chExt cx="800219" cy="1104817"/>
          </a:xfrm>
        </p:grpSpPr>
        <p:grpSp>
          <p:nvGrpSpPr>
            <p:cNvPr id="409" name="Groupe 408"/>
            <p:cNvGrpSpPr/>
            <p:nvPr/>
          </p:nvGrpSpPr>
          <p:grpSpPr>
            <a:xfrm>
              <a:off x="7398544" y="1585582"/>
              <a:ext cx="531962" cy="810883"/>
              <a:chOff x="2905670" y="1009291"/>
              <a:chExt cx="531962" cy="810883"/>
            </a:xfrm>
          </p:grpSpPr>
          <p:sp>
            <p:nvSpPr>
              <p:cNvPr id="412" name="Rectangle 411"/>
              <p:cNvSpPr/>
              <p:nvPr/>
            </p:nvSpPr>
            <p:spPr>
              <a:xfrm>
                <a:off x="2905670" y="1009291"/>
                <a:ext cx="531962" cy="8108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13" name="Groupe 412"/>
              <p:cNvGrpSpPr/>
              <p:nvPr/>
            </p:nvGrpSpPr>
            <p:grpSpPr>
              <a:xfrm>
                <a:off x="2969649" y="1111370"/>
                <a:ext cx="386752" cy="606724"/>
                <a:chOff x="4270082" y="1561381"/>
                <a:chExt cx="386752" cy="606724"/>
              </a:xfrm>
            </p:grpSpPr>
            <p:sp>
              <p:nvSpPr>
                <p:cNvPr id="414" name="Ellipse 413"/>
                <p:cNvSpPr/>
                <p:nvPr/>
              </p:nvSpPr>
              <p:spPr>
                <a:xfrm>
                  <a:off x="427008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5" name="Ellipse 414"/>
                <p:cNvSpPr/>
                <p:nvPr/>
              </p:nvSpPr>
              <p:spPr>
                <a:xfrm>
                  <a:off x="4270082" y="1800045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6" name="Ellipse 415"/>
                <p:cNvSpPr/>
                <p:nvPr/>
              </p:nvSpPr>
              <p:spPr>
                <a:xfrm>
                  <a:off x="4527438" y="1561381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7" name="Ellipse 416"/>
                <p:cNvSpPr/>
                <p:nvPr/>
              </p:nvSpPr>
              <p:spPr>
                <a:xfrm>
                  <a:off x="452743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18" name="Ellipse 417"/>
                <p:cNvSpPr/>
                <p:nvPr/>
              </p:nvSpPr>
              <p:spPr>
                <a:xfrm>
                  <a:off x="427008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10" name="ZoneTexte 409"/>
            <p:cNvSpPr txBox="1"/>
            <p:nvPr/>
          </p:nvSpPr>
          <p:spPr>
            <a:xfrm>
              <a:off x="7272341" y="1291648"/>
              <a:ext cx="80021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O=K+E</a:t>
              </a:r>
              <a:endParaRPr lang="fr-BE" dirty="0"/>
            </a:p>
          </p:txBody>
        </p:sp>
        <p:sp>
          <p:nvSpPr>
            <p:cNvPr id="411" name="Ellipse 410"/>
            <p:cNvSpPr/>
            <p:nvPr/>
          </p:nvSpPr>
          <p:spPr>
            <a:xfrm>
              <a:off x="7719879" y="1927521"/>
              <a:ext cx="129396" cy="129396"/>
            </a:xfrm>
            <a:prstGeom prst="ellipse">
              <a:avLst/>
            </a:prstGeom>
            <a:solidFill>
              <a:srgbClr val="5B9BD5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19" name="Groupe 418"/>
          <p:cNvGrpSpPr/>
          <p:nvPr/>
        </p:nvGrpSpPr>
        <p:grpSpPr>
          <a:xfrm>
            <a:off x="7183995" y="3621147"/>
            <a:ext cx="2555562" cy="1185322"/>
            <a:chOff x="912954" y="2371795"/>
            <a:chExt cx="2555562" cy="1185322"/>
          </a:xfrm>
        </p:grpSpPr>
        <p:sp>
          <p:nvSpPr>
            <p:cNvPr id="420" name="Rectangle 419"/>
            <p:cNvSpPr/>
            <p:nvPr/>
          </p:nvSpPr>
          <p:spPr>
            <a:xfrm>
              <a:off x="951036" y="2414112"/>
              <a:ext cx="2497852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421" name="Groupe 420"/>
            <p:cNvGrpSpPr/>
            <p:nvPr/>
          </p:nvGrpSpPr>
          <p:grpSpPr>
            <a:xfrm>
              <a:off x="912954" y="2375714"/>
              <a:ext cx="1163204" cy="1104817"/>
              <a:chOff x="7243231" y="1291648"/>
              <a:chExt cx="1163204" cy="1104817"/>
            </a:xfrm>
          </p:grpSpPr>
          <p:grpSp>
            <p:nvGrpSpPr>
              <p:cNvPr id="435" name="Groupe 434"/>
              <p:cNvGrpSpPr/>
              <p:nvPr/>
            </p:nvGrpSpPr>
            <p:grpSpPr>
              <a:xfrm>
                <a:off x="7519308" y="1585582"/>
                <a:ext cx="531962" cy="810883"/>
                <a:chOff x="3026434" y="1009291"/>
                <a:chExt cx="531962" cy="810883"/>
              </a:xfrm>
            </p:grpSpPr>
            <p:sp>
              <p:nvSpPr>
                <p:cNvPr id="438" name="Rectangle 437"/>
                <p:cNvSpPr/>
                <p:nvPr/>
              </p:nvSpPr>
              <p:spPr>
                <a:xfrm>
                  <a:off x="302643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439" name="Groupe 438"/>
                <p:cNvGrpSpPr/>
                <p:nvPr/>
              </p:nvGrpSpPr>
              <p:grpSpPr>
                <a:xfrm>
                  <a:off x="3099039" y="1111370"/>
                  <a:ext cx="386752" cy="606724"/>
                  <a:chOff x="4399472" y="1561381"/>
                  <a:chExt cx="386752" cy="606724"/>
                </a:xfrm>
              </p:grpSpPr>
              <p:sp>
                <p:nvSpPr>
                  <p:cNvPr id="440" name="Ellipse 439"/>
                  <p:cNvSpPr/>
                  <p:nvPr/>
                </p:nvSpPr>
                <p:spPr>
                  <a:xfrm>
                    <a:off x="4399472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1" name="Ellipse 440"/>
                  <p:cNvSpPr/>
                  <p:nvPr/>
                </p:nvSpPr>
                <p:spPr>
                  <a:xfrm>
                    <a:off x="4399472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2" name="Ellipse 441"/>
                  <p:cNvSpPr/>
                  <p:nvPr/>
                </p:nvSpPr>
                <p:spPr>
                  <a:xfrm>
                    <a:off x="4656828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3" name="Ellipse 442"/>
                  <p:cNvSpPr/>
                  <p:nvPr/>
                </p:nvSpPr>
                <p:spPr>
                  <a:xfrm>
                    <a:off x="4656828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44" name="Ellipse 443"/>
                  <p:cNvSpPr/>
                  <p:nvPr/>
                </p:nvSpPr>
                <p:spPr>
                  <a:xfrm>
                    <a:off x="439947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36" name="ZoneTexte 435"/>
              <p:cNvSpPr txBox="1"/>
              <p:nvPr/>
            </p:nvSpPr>
            <p:spPr>
              <a:xfrm>
                <a:off x="7243231" y="1291648"/>
                <a:ext cx="1163204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Z=</a:t>
                </a:r>
                <a:r>
                  <a:rPr lang="fr-FR" sz="1600" dirty="0" err="1" smtClean="0"/>
                  <a:t>SymV</a:t>
                </a:r>
                <a:r>
                  <a:rPr lang="fr-FR" dirty="0" smtClean="0"/>
                  <a:t>(N)</a:t>
                </a:r>
                <a:endParaRPr lang="fr-BE" dirty="0"/>
              </a:p>
            </p:txBody>
          </p:sp>
          <p:sp>
            <p:nvSpPr>
              <p:cNvPr id="437" name="Ellipse 436"/>
              <p:cNvSpPr/>
              <p:nvPr/>
            </p:nvSpPr>
            <p:spPr>
              <a:xfrm>
                <a:off x="7849269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422" name="Groupe 421"/>
            <p:cNvGrpSpPr/>
            <p:nvPr/>
          </p:nvGrpSpPr>
          <p:grpSpPr>
            <a:xfrm>
              <a:off x="2641045" y="2371795"/>
              <a:ext cx="827471" cy="1104817"/>
              <a:chOff x="7801395" y="1291648"/>
              <a:chExt cx="827471" cy="1104817"/>
            </a:xfrm>
          </p:grpSpPr>
          <p:grpSp>
            <p:nvGrpSpPr>
              <p:cNvPr id="425" name="Groupe 424"/>
              <p:cNvGrpSpPr/>
              <p:nvPr/>
            </p:nvGrpSpPr>
            <p:grpSpPr>
              <a:xfrm>
                <a:off x="7950608" y="1585582"/>
                <a:ext cx="531962" cy="810883"/>
                <a:chOff x="3457734" y="1009291"/>
                <a:chExt cx="531962" cy="810883"/>
              </a:xfrm>
            </p:grpSpPr>
            <p:sp>
              <p:nvSpPr>
                <p:cNvPr id="428" name="Rectangle 427"/>
                <p:cNvSpPr/>
                <p:nvPr/>
              </p:nvSpPr>
              <p:spPr>
                <a:xfrm>
                  <a:off x="345773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429" name="Groupe 428"/>
                <p:cNvGrpSpPr/>
                <p:nvPr/>
              </p:nvGrpSpPr>
              <p:grpSpPr>
                <a:xfrm>
                  <a:off x="3530339" y="1111370"/>
                  <a:ext cx="386752" cy="606724"/>
                  <a:chOff x="4830772" y="1561381"/>
                  <a:chExt cx="386752" cy="606724"/>
                </a:xfrm>
              </p:grpSpPr>
              <p:sp>
                <p:nvSpPr>
                  <p:cNvPr id="430" name="Ellipse 429"/>
                  <p:cNvSpPr/>
                  <p:nvPr/>
                </p:nvSpPr>
                <p:spPr>
                  <a:xfrm>
                    <a:off x="4830772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1" name="Ellipse 430"/>
                  <p:cNvSpPr/>
                  <p:nvPr/>
                </p:nvSpPr>
                <p:spPr>
                  <a:xfrm>
                    <a:off x="4830772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2" name="Ellipse 431"/>
                  <p:cNvSpPr/>
                  <p:nvPr/>
                </p:nvSpPr>
                <p:spPr>
                  <a:xfrm>
                    <a:off x="5088128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3" name="Ellipse 432"/>
                  <p:cNvSpPr/>
                  <p:nvPr/>
                </p:nvSpPr>
                <p:spPr>
                  <a:xfrm>
                    <a:off x="508812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434" name="Ellipse 433"/>
                  <p:cNvSpPr/>
                  <p:nvPr/>
                </p:nvSpPr>
                <p:spPr>
                  <a:xfrm>
                    <a:off x="483077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426" name="ZoneTexte 425"/>
              <p:cNvSpPr txBox="1"/>
              <p:nvPr/>
            </p:nvSpPr>
            <p:spPr>
              <a:xfrm>
                <a:off x="7801395" y="1291648"/>
                <a:ext cx="827471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N=</a:t>
                </a:r>
                <a:r>
                  <a:rPr lang="fr-FR" dirty="0" err="1" smtClean="0"/>
                  <a:t>K+</a:t>
                </a:r>
                <a:r>
                  <a:rPr lang="fr-FR" dirty="0" err="1"/>
                  <a:t>D</a:t>
                </a:r>
                <a:endParaRPr lang="fr-BE" dirty="0"/>
              </a:p>
            </p:txBody>
          </p:sp>
          <p:sp>
            <p:nvSpPr>
              <p:cNvPr id="427" name="Ellipse 426"/>
              <p:cNvSpPr/>
              <p:nvPr/>
            </p:nvSpPr>
            <p:spPr>
              <a:xfrm>
                <a:off x="8280569" y="1927521"/>
                <a:ext cx="129396" cy="129396"/>
              </a:xfrm>
              <a:prstGeom prst="ellipse">
                <a:avLst/>
              </a:prstGeom>
              <a:solidFill>
                <a:srgbClr val="5B9BD5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423" name="Connecteur droit avec flèche 422"/>
            <p:cNvCxnSpPr>
              <a:stCxn id="438" idx="3"/>
              <a:endCxn id="428" idx="1"/>
            </p:cNvCxnSpPr>
            <p:nvPr/>
          </p:nvCxnSpPr>
          <p:spPr>
            <a:xfrm flipV="1">
              <a:off x="1720993" y="3071171"/>
              <a:ext cx="1069265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24" name="ZoneTexte 423"/>
            <p:cNvSpPr txBox="1"/>
            <p:nvPr/>
          </p:nvSpPr>
          <p:spPr>
            <a:xfrm>
              <a:off x="1809393" y="2832449"/>
              <a:ext cx="8734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/>
                <a:t>Symmetry</a:t>
              </a:r>
              <a:endParaRPr lang="fr-BE" sz="1300" dirty="0"/>
            </a:p>
          </p:txBody>
        </p:sp>
      </p:grpSp>
      <p:grpSp>
        <p:nvGrpSpPr>
          <p:cNvPr id="471" name="Groupe 470"/>
          <p:cNvGrpSpPr/>
          <p:nvPr/>
        </p:nvGrpSpPr>
        <p:grpSpPr>
          <a:xfrm>
            <a:off x="9966701" y="2047954"/>
            <a:ext cx="837089" cy="1104817"/>
            <a:chOff x="7392206" y="1291648"/>
            <a:chExt cx="837089" cy="1104817"/>
          </a:xfrm>
        </p:grpSpPr>
        <p:grpSp>
          <p:nvGrpSpPr>
            <p:cNvPr id="472" name="Groupe 471"/>
            <p:cNvGrpSpPr/>
            <p:nvPr/>
          </p:nvGrpSpPr>
          <p:grpSpPr>
            <a:xfrm>
              <a:off x="7519308" y="1585582"/>
              <a:ext cx="531962" cy="810883"/>
              <a:chOff x="3026434" y="1009291"/>
              <a:chExt cx="531962" cy="810883"/>
            </a:xfrm>
          </p:grpSpPr>
          <p:sp>
            <p:nvSpPr>
              <p:cNvPr id="475" name="Rectangle 474"/>
              <p:cNvSpPr/>
              <p:nvPr/>
            </p:nvSpPr>
            <p:spPr>
              <a:xfrm>
                <a:off x="3026434" y="1009291"/>
                <a:ext cx="531962" cy="810883"/>
              </a:xfrm>
              <a:prstGeom prst="rect">
                <a:avLst/>
              </a:prstGeom>
              <a:solidFill>
                <a:schemeClr val="accent1">
                  <a:lumMod val="20000"/>
                  <a:lumOff val="80000"/>
                </a:schemeClr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76" name="Groupe 475"/>
              <p:cNvGrpSpPr/>
              <p:nvPr/>
            </p:nvGrpSpPr>
            <p:grpSpPr>
              <a:xfrm>
                <a:off x="3099039" y="1111370"/>
                <a:ext cx="386752" cy="606724"/>
                <a:chOff x="4399472" y="1561381"/>
                <a:chExt cx="386752" cy="606724"/>
              </a:xfrm>
            </p:grpSpPr>
            <p:sp>
              <p:nvSpPr>
                <p:cNvPr id="477" name="Ellipse 476"/>
                <p:cNvSpPr/>
                <p:nvPr/>
              </p:nvSpPr>
              <p:spPr>
                <a:xfrm>
                  <a:off x="439947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8" name="Ellipse 477"/>
                <p:cNvSpPr/>
                <p:nvPr/>
              </p:nvSpPr>
              <p:spPr>
                <a:xfrm>
                  <a:off x="4399472" y="1800045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79" name="Ellipse 478"/>
                <p:cNvSpPr/>
                <p:nvPr/>
              </p:nvSpPr>
              <p:spPr>
                <a:xfrm>
                  <a:off x="4656828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0" name="Ellipse 479"/>
                <p:cNvSpPr/>
                <p:nvPr/>
              </p:nvSpPr>
              <p:spPr>
                <a:xfrm>
                  <a:off x="465682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1" name="Ellipse 480"/>
                <p:cNvSpPr/>
                <p:nvPr/>
              </p:nvSpPr>
              <p:spPr>
                <a:xfrm>
                  <a:off x="439947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73" name="ZoneTexte 472"/>
            <p:cNvSpPr txBox="1"/>
            <p:nvPr/>
          </p:nvSpPr>
          <p:spPr>
            <a:xfrm>
              <a:off x="7392206" y="1291648"/>
              <a:ext cx="8370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/>
                <a:t>Q=</a:t>
              </a:r>
              <a:r>
                <a:rPr lang="fr-FR" dirty="0" err="1"/>
                <a:t>G+K</a:t>
              </a:r>
              <a:endParaRPr lang="fr-BE" dirty="0"/>
            </a:p>
          </p:txBody>
        </p:sp>
        <p:sp>
          <p:nvSpPr>
            <p:cNvPr id="474" name="Ellipse 473"/>
            <p:cNvSpPr/>
            <p:nvPr/>
          </p:nvSpPr>
          <p:spPr>
            <a:xfrm>
              <a:off x="7849269" y="1927521"/>
              <a:ext cx="129396" cy="1293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82" name="Groupe 481"/>
          <p:cNvGrpSpPr/>
          <p:nvPr/>
        </p:nvGrpSpPr>
        <p:grpSpPr>
          <a:xfrm>
            <a:off x="7193412" y="5124538"/>
            <a:ext cx="771365" cy="1104817"/>
            <a:chOff x="7316006" y="1291648"/>
            <a:chExt cx="771365" cy="1104817"/>
          </a:xfrm>
        </p:grpSpPr>
        <p:grpSp>
          <p:nvGrpSpPr>
            <p:cNvPr id="483" name="Groupe 482"/>
            <p:cNvGrpSpPr/>
            <p:nvPr/>
          </p:nvGrpSpPr>
          <p:grpSpPr>
            <a:xfrm>
              <a:off x="7424058" y="1585582"/>
              <a:ext cx="531962" cy="810883"/>
              <a:chOff x="2931184" y="1009291"/>
              <a:chExt cx="531962" cy="810883"/>
            </a:xfrm>
          </p:grpSpPr>
          <p:sp>
            <p:nvSpPr>
              <p:cNvPr id="486" name="Rectangle 485"/>
              <p:cNvSpPr/>
              <p:nvPr/>
            </p:nvSpPr>
            <p:spPr>
              <a:xfrm>
                <a:off x="2931184" y="1009291"/>
                <a:ext cx="531962" cy="810883"/>
              </a:xfrm>
              <a:prstGeom prst="rect">
                <a:avLst/>
              </a:prstGeom>
              <a:solidFill>
                <a:srgbClr val="DEEBF7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87" name="Groupe 486"/>
              <p:cNvGrpSpPr/>
              <p:nvPr/>
            </p:nvGrpSpPr>
            <p:grpSpPr>
              <a:xfrm>
                <a:off x="3003789" y="1111370"/>
                <a:ext cx="386752" cy="606724"/>
                <a:chOff x="4304222" y="1561381"/>
                <a:chExt cx="386752" cy="606724"/>
              </a:xfrm>
            </p:grpSpPr>
            <p:sp>
              <p:nvSpPr>
                <p:cNvPr id="488" name="Ellipse 487"/>
                <p:cNvSpPr/>
                <p:nvPr/>
              </p:nvSpPr>
              <p:spPr>
                <a:xfrm>
                  <a:off x="4304222" y="1561381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89" name="Ellipse 488"/>
                <p:cNvSpPr/>
                <p:nvPr/>
              </p:nvSpPr>
              <p:spPr>
                <a:xfrm>
                  <a:off x="4304222" y="1800045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0" name="Ellipse 489"/>
                <p:cNvSpPr/>
                <p:nvPr/>
              </p:nvSpPr>
              <p:spPr>
                <a:xfrm>
                  <a:off x="4561578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1" name="Ellipse 490"/>
                <p:cNvSpPr/>
                <p:nvPr/>
              </p:nvSpPr>
              <p:spPr>
                <a:xfrm>
                  <a:off x="456157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492" name="Ellipse 491"/>
                <p:cNvSpPr/>
                <p:nvPr/>
              </p:nvSpPr>
              <p:spPr>
                <a:xfrm>
                  <a:off x="430422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84" name="ZoneTexte 483"/>
            <p:cNvSpPr txBox="1"/>
            <p:nvPr/>
          </p:nvSpPr>
          <p:spPr>
            <a:xfrm>
              <a:off x="7316006" y="1291648"/>
              <a:ext cx="7713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T=Q-A</a:t>
              </a:r>
              <a:endParaRPr lang="fr-BE" dirty="0"/>
            </a:p>
          </p:txBody>
        </p:sp>
        <p:sp>
          <p:nvSpPr>
            <p:cNvPr id="485" name="Ellipse 484"/>
            <p:cNvSpPr/>
            <p:nvPr/>
          </p:nvSpPr>
          <p:spPr>
            <a:xfrm>
              <a:off x="7754019" y="1927521"/>
              <a:ext cx="129396" cy="1293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493" name="Groupe 492"/>
          <p:cNvGrpSpPr/>
          <p:nvPr/>
        </p:nvGrpSpPr>
        <p:grpSpPr>
          <a:xfrm>
            <a:off x="8945224" y="5122279"/>
            <a:ext cx="880369" cy="1104817"/>
            <a:chOff x="7601756" y="1291648"/>
            <a:chExt cx="880369" cy="1104817"/>
          </a:xfrm>
        </p:grpSpPr>
        <p:grpSp>
          <p:nvGrpSpPr>
            <p:cNvPr id="494" name="Groupe 493"/>
            <p:cNvGrpSpPr/>
            <p:nvPr/>
          </p:nvGrpSpPr>
          <p:grpSpPr>
            <a:xfrm>
              <a:off x="7757433" y="1585582"/>
              <a:ext cx="531962" cy="810883"/>
              <a:chOff x="3264559" y="1009291"/>
              <a:chExt cx="531962" cy="810883"/>
            </a:xfrm>
          </p:grpSpPr>
          <p:sp>
            <p:nvSpPr>
              <p:cNvPr id="497" name="Rectangle 496"/>
              <p:cNvSpPr/>
              <p:nvPr/>
            </p:nvSpPr>
            <p:spPr>
              <a:xfrm>
                <a:off x="3264559" y="1009291"/>
                <a:ext cx="531962" cy="810883"/>
              </a:xfrm>
              <a:prstGeom prst="rect">
                <a:avLst/>
              </a:prstGeom>
              <a:solidFill>
                <a:srgbClr val="DEEBF7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498" name="Groupe 497"/>
              <p:cNvGrpSpPr/>
              <p:nvPr/>
            </p:nvGrpSpPr>
            <p:grpSpPr>
              <a:xfrm>
                <a:off x="3337164" y="1111370"/>
                <a:ext cx="386752" cy="606724"/>
                <a:chOff x="4637597" y="1561381"/>
                <a:chExt cx="386752" cy="606724"/>
              </a:xfrm>
            </p:grpSpPr>
            <p:sp>
              <p:nvSpPr>
                <p:cNvPr id="499" name="Ellipse 498"/>
                <p:cNvSpPr/>
                <p:nvPr/>
              </p:nvSpPr>
              <p:spPr>
                <a:xfrm>
                  <a:off x="4637597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0" name="Ellipse 499"/>
                <p:cNvSpPr/>
                <p:nvPr/>
              </p:nvSpPr>
              <p:spPr>
                <a:xfrm>
                  <a:off x="4637597" y="1800045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1" name="Ellipse 500"/>
                <p:cNvSpPr/>
                <p:nvPr/>
              </p:nvSpPr>
              <p:spPr>
                <a:xfrm>
                  <a:off x="4894953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2" name="Ellipse 501"/>
                <p:cNvSpPr/>
                <p:nvPr/>
              </p:nvSpPr>
              <p:spPr>
                <a:xfrm>
                  <a:off x="4894953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03" name="Ellipse 502"/>
                <p:cNvSpPr/>
                <p:nvPr/>
              </p:nvSpPr>
              <p:spPr>
                <a:xfrm>
                  <a:off x="4637597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495" name="ZoneTexte 494"/>
            <p:cNvSpPr txBox="1"/>
            <p:nvPr/>
          </p:nvSpPr>
          <p:spPr>
            <a:xfrm>
              <a:off x="7601756" y="1291648"/>
              <a:ext cx="88036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BE" dirty="0" smtClean="0"/>
                <a:t>X=U+</a:t>
              </a:r>
              <a:r>
                <a:rPr lang="fr-FR" dirty="0" smtClean="0"/>
                <a:t>M</a:t>
              </a:r>
              <a:endParaRPr lang="fr-BE" dirty="0"/>
            </a:p>
          </p:txBody>
        </p:sp>
        <p:sp>
          <p:nvSpPr>
            <p:cNvPr id="496" name="Ellipse 495"/>
            <p:cNvSpPr/>
            <p:nvPr/>
          </p:nvSpPr>
          <p:spPr>
            <a:xfrm>
              <a:off x="8087394" y="1927521"/>
              <a:ext cx="129396" cy="1293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04" name="Groupe 503"/>
          <p:cNvGrpSpPr/>
          <p:nvPr/>
        </p:nvGrpSpPr>
        <p:grpSpPr>
          <a:xfrm>
            <a:off x="5484797" y="5118045"/>
            <a:ext cx="758541" cy="1104817"/>
            <a:chOff x="7430306" y="1291648"/>
            <a:chExt cx="758541" cy="1104817"/>
          </a:xfrm>
        </p:grpSpPr>
        <p:grpSp>
          <p:nvGrpSpPr>
            <p:cNvPr id="505" name="Groupe 504"/>
            <p:cNvGrpSpPr/>
            <p:nvPr/>
          </p:nvGrpSpPr>
          <p:grpSpPr>
            <a:xfrm>
              <a:off x="7519308" y="1585582"/>
              <a:ext cx="531962" cy="810883"/>
              <a:chOff x="3026434" y="1009291"/>
              <a:chExt cx="531962" cy="810883"/>
            </a:xfrm>
          </p:grpSpPr>
          <p:sp>
            <p:nvSpPr>
              <p:cNvPr id="508" name="Rectangle 507"/>
              <p:cNvSpPr/>
              <p:nvPr/>
            </p:nvSpPr>
            <p:spPr>
              <a:xfrm>
                <a:off x="3026434" y="1009291"/>
                <a:ext cx="531962" cy="810883"/>
              </a:xfrm>
              <a:prstGeom prst="rect">
                <a:avLst/>
              </a:prstGeom>
              <a:solidFill>
                <a:srgbClr val="DEEBF7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09" name="Groupe 508"/>
              <p:cNvGrpSpPr/>
              <p:nvPr/>
            </p:nvGrpSpPr>
            <p:grpSpPr>
              <a:xfrm>
                <a:off x="3099039" y="1111370"/>
                <a:ext cx="386752" cy="606724"/>
                <a:chOff x="4399472" y="1561381"/>
                <a:chExt cx="386752" cy="606724"/>
              </a:xfrm>
            </p:grpSpPr>
            <p:sp>
              <p:nvSpPr>
                <p:cNvPr id="510" name="Ellipse 509"/>
                <p:cNvSpPr/>
                <p:nvPr/>
              </p:nvSpPr>
              <p:spPr>
                <a:xfrm>
                  <a:off x="439947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1" name="Ellipse 510"/>
                <p:cNvSpPr/>
                <p:nvPr/>
              </p:nvSpPr>
              <p:spPr>
                <a:xfrm>
                  <a:off x="4399472" y="1800045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2" name="Ellipse 511"/>
                <p:cNvSpPr/>
                <p:nvPr/>
              </p:nvSpPr>
              <p:spPr>
                <a:xfrm>
                  <a:off x="4656828" y="1561381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3" name="Ellipse 512"/>
                <p:cNvSpPr/>
                <p:nvPr/>
              </p:nvSpPr>
              <p:spPr>
                <a:xfrm>
                  <a:off x="4656828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14" name="Ellipse 513"/>
                <p:cNvSpPr/>
                <p:nvPr/>
              </p:nvSpPr>
              <p:spPr>
                <a:xfrm>
                  <a:off x="439947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06" name="ZoneTexte 505"/>
            <p:cNvSpPr txBox="1"/>
            <p:nvPr/>
          </p:nvSpPr>
          <p:spPr>
            <a:xfrm>
              <a:off x="7430306" y="1291648"/>
              <a:ext cx="75854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L=</a:t>
              </a:r>
              <a:r>
                <a:rPr lang="fr-FR" dirty="0" err="1" smtClean="0"/>
                <a:t>K+</a:t>
              </a:r>
              <a:r>
                <a:rPr lang="fr-FR" dirty="0" err="1" smtClean="0"/>
                <a:t>B</a:t>
              </a:r>
              <a:endParaRPr lang="fr-BE" dirty="0"/>
            </a:p>
          </p:txBody>
        </p:sp>
        <p:sp>
          <p:nvSpPr>
            <p:cNvPr id="507" name="Ellipse 506"/>
            <p:cNvSpPr/>
            <p:nvPr/>
          </p:nvSpPr>
          <p:spPr>
            <a:xfrm>
              <a:off x="7849269" y="1927521"/>
              <a:ext cx="129396" cy="1293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15" name="Groupe 514"/>
          <p:cNvGrpSpPr/>
          <p:nvPr/>
        </p:nvGrpSpPr>
        <p:grpSpPr>
          <a:xfrm>
            <a:off x="6343297" y="5123940"/>
            <a:ext cx="592389" cy="1104817"/>
            <a:chOff x="7605523" y="1291648"/>
            <a:chExt cx="592389" cy="1104817"/>
          </a:xfrm>
        </p:grpSpPr>
        <p:grpSp>
          <p:nvGrpSpPr>
            <p:cNvPr id="516" name="Groupe 515"/>
            <p:cNvGrpSpPr/>
            <p:nvPr/>
          </p:nvGrpSpPr>
          <p:grpSpPr>
            <a:xfrm>
              <a:off x="7665950" y="1585582"/>
              <a:ext cx="531962" cy="810883"/>
              <a:chOff x="3173076" y="1009291"/>
              <a:chExt cx="531962" cy="810883"/>
            </a:xfrm>
          </p:grpSpPr>
          <p:sp>
            <p:nvSpPr>
              <p:cNvPr id="519" name="Rectangle 518"/>
              <p:cNvSpPr/>
              <p:nvPr/>
            </p:nvSpPr>
            <p:spPr>
              <a:xfrm>
                <a:off x="3173076" y="1009291"/>
                <a:ext cx="531962" cy="810883"/>
              </a:xfrm>
              <a:prstGeom prst="rect">
                <a:avLst/>
              </a:prstGeom>
              <a:solidFill>
                <a:srgbClr val="FFFF00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20" name="Groupe 519"/>
              <p:cNvGrpSpPr/>
              <p:nvPr/>
            </p:nvGrpSpPr>
            <p:grpSpPr>
              <a:xfrm>
                <a:off x="3245681" y="1111370"/>
                <a:ext cx="386752" cy="606724"/>
                <a:chOff x="4546114" y="1561381"/>
                <a:chExt cx="386752" cy="606724"/>
              </a:xfrm>
            </p:grpSpPr>
            <p:sp>
              <p:nvSpPr>
                <p:cNvPr id="521" name="Ellipse 520"/>
                <p:cNvSpPr/>
                <p:nvPr/>
              </p:nvSpPr>
              <p:spPr>
                <a:xfrm>
                  <a:off x="4546114" y="1561381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2" name="Ellipse 521"/>
                <p:cNvSpPr/>
                <p:nvPr/>
              </p:nvSpPr>
              <p:spPr>
                <a:xfrm>
                  <a:off x="4546114" y="1800045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3" name="Ellipse 522"/>
                <p:cNvSpPr/>
                <p:nvPr/>
              </p:nvSpPr>
              <p:spPr>
                <a:xfrm>
                  <a:off x="4803470" y="1561381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4" name="Ellipse 523"/>
                <p:cNvSpPr/>
                <p:nvPr/>
              </p:nvSpPr>
              <p:spPr>
                <a:xfrm>
                  <a:off x="4803470" y="2038709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25" name="Ellipse 524"/>
                <p:cNvSpPr/>
                <p:nvPr/>
              </p:nvSpPr>
              <p:spPr>
                <a:xfrm>
                  <a:off x="4546114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17" name="ZoneTexte 516"/>
            <p:cNvSpPr txBox="1"/>
            <p:nvPr/>
          </p:nvSpPr>
          <p:spPr>
            <a:xfrm>
              <a:off x="7605523" y="1291648"/>
              <a:ext cx="44916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   S</a:t>
              </a:r>
              <a:endParaRPr lang="fr-BE" dirty="0"/>
            </a:p>
          </p:txBody>
        </p:sp>
        <p:sp>
          <p:nvSpPr>
            <p:cNvPr id="518" name="Ellipse 517"/>
            <p:cNvSpPr/>
            <p:nvPr/>
          </p:nvSpPr>
          <p:spPr>
            <a:xfrm>
              <a:off x="7995911" y="1927521"/>
              <a:ext cx="129396" cy="129396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grpSp>
        <p:nvGrpSpPr>
          <p:cNvPr id="548" name="Groupe 547"/>
          <p:cNvGrpSpPr/>
          <p:nvPr/>
        </p:nvGrpSpPr>
        <p:grpSpPr>
          <a:xfrm>
            <a:off x="4768744" y="3632783"/>
            <a:ext cx="2373185" cy="1185322"/>
            <a:chOff x="954306" y="2371795"/>
            <a:chExt cx="2373185" cy="1185322"/>
          </a:xfrm>
        </p:grpSpPr>
        <p:sp>
          <p:nvSpPr>
            <p:cNvPr id="549" name="Rectangle 548"/>
            <p:cNvSpPr/>
            <p:nvPr/>
          </p:nvSpPr>
          <p:spPr>
            <a:xfrm>
              <a:off x="954306" y="2414112"/>
              <a:ext cx="2218607" cy="1143005"/>
            </a:xfrm>
            <a:prstGeom prst="rect">
              <a:avLst/>
            </a:prstGeom>
            <a:solidFill>
              <a:srgbClr val="FFF2CC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  <p:grpSp>
          <p:nvGrpSpPr>
            <p:cNvPr id="550" name="Groupe 549"/>
            <p:cNvGrpSpPr/>
            <p:nvPr/>
          </p:nvGrpSpPr>
          <p:grpSpPr>
            <a:xfrm>
              <a:off x="988790" y="2375714"/>
              <a:ext cx="723275" cy="1104817"/>
              <a:chOff x="7319067" y="1291648"/>
              <a:chExt cx="723275" cy="1104817"/>
            </a:xfrm>
          </p:grpSpPr>
          <p:grpSp>
            <p:nvGrpSpPr>
              <p:cNvPr id="564" name="Groupe 563"/>
              <p:cNvGrpSpPr/>
              <p:nvPr/>
            </p:nvGrpSpPr>
            <p:grpSpPr>
              <a:xfrm>
                <a:off x="7398544" y="1585582"/>
                <a:ext cx="531962" cy="810883"/>
                <a:chOff x="2905670" y="1009291"/>
                <a:chExt cx="531962" cy="810883"/>
              </a:xfrm>
            </p:grpSpPr>
            <p:sp>
              <p:nvSpPr>
                <p:cNvPr id="567" name="Rectangle 566"/>
                <p:cNvSpPr/>
                <p:nvPr/>
              </p:nvSpPr>
              <p:spPr>
                <a:xfrm>
                  <a:off x="2905670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68" name="Groupe 567"/>
                <p:cNvGrpSpPr/>
                <p:nvPr/>
              </p:nvGrpSpPr>
              <p:grpSpPr>
                <a:xfrm>
                  <a:off x="2978275" y="1111370"/>
                  <a:ext cx="386752" cy="606724"/>
                  <a:chOff x="4278708" y="1561381"/>
                  <a:chExt cx="386752" cy="606724"/>
                </a:xfrm>
              </p:grpSpPr>
              <p:sp>
                <p:nvSpPr>
                  <p:cNvPr id="569" name="Ellipse 568"/>
                  <p:cNvSpPr/>
                  <p:nvPr/>
                </p:nvSpPr>
                <p:spPr>
                  <a:xfrm>
                    <a:off x="4278708" y="1561381"/>
                    <a:ext cx="129396" cy="129396"/>
                  </a:xfrm>
                  <a:prstGeom prst="ellipse">
                    <a:avLst/>
                  </a:prstGeom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0" name="Ellipse 569"/>
                  <p:cNvSpPr/>
                  <p:nvPr/>
                </p:nvSpPr>
                <p:spPr>
                  <a:xfrm>
                    <a:off x="4278708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1" name="Ellipse 570"/>
                  <p:cNvSpPr/>
                  <p:nvPr/>
                </p:nvSpPr>
                <p:spPr>
                  <a:xfrm>
                    <a:off x="4536064" y="1561381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2" name="Ellipse 571"/>
                  <p:cNvSpPr/>
                  <p:nvPr/>
                </p:nvSpPr>
                <p:spPr>
                  <a:xfrm>
                    <a:off x="4536064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73" name="Ellipse 572"/>
                  <p:cNvSpPr/>
                  <p:nvPr/>
                </p:nvSpPr>
                <p:spPr>
                  <a:xfrm>
                    <a:off x="4278708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65" name="ZoneTexte 564"/>
              <p:cNvSpPr txBox="1"/>
              <p:nvPr/>
            </p:nvSpPr>
            <p:spPr>
              <a:xfrm>
                <a:off x="7319067" y="1291648"/>
                <a:ext cx="723275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U=</a:t>
                </a:r>
                <a:r>
                  <a:rPr lang="fr-FR" dirty="0" err="1" smtClean="0"/>
                  <a:t>V-</a:t>
                </a:r>
                <a:r>
                  <a:rPr lang="fr-FR" dirty="0" err="1"/>
                  <a:t>J</a:t>
                </a:r>
                <a:endParaRPr lang="fr-BE" dirty="0"/>
              </a:p>
            </p:txBody>
          </p:sp>
          <p:sp>
            <p:nvSpPr>
              <p:cNvPr id="566" name="Ellipse 565"/>
              <p:cNvSpPr/>
              <p:nvPr/>
            </p:nvSpPr>
            <p:spPr>
              <a:xfrm>
                <a:off x="7728505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551" name="Groupe 550"/>
            <p:cNvGrpSpPr/>
            <p:nvPr/>
          </p:nvGrpSpPr>
          <p:grpSpPr>
            <a:xfrm>
              <a:off x="2064901" y="2371795"/>
              <a:ext cx="1262590" cy="1104817"/>
              <a:chOff x="7225251" y="1291648"/>
              <a:chExt cx="1262590" cy="1104817"/>
            </a:xfrm>
          </p:grpSpPr>
          <p:grpSp>
            <p:nvGrpSpPr>
              <p:cNvPr id="554" name="Groupe 553"/>
              <p:cNvGrpSpPr/>
              <p:nvPr/>
            </p:nvGrpSpPr>
            <p:grpSpPr>
              <a:xfrm>
                <a:off x="7519308" y="1585582"/>
                <a:ext cx="531962" cy="810883"/>
                <a:chOff x="3026434" y="1009291"/>
                <a:chExt cx="531962" cy="810883"/>
              </a:xfrm>
            </p:grpSpPr>
            <p:sp>
              <p:nvSpPr>
                <p:cNvPr id="557" name="Rectangle 556"/>
                <p:cNvSpPr/>
                <p:nvPr/>
              </p:nvSpPr>
              <p:spPr>
                <a:xfrm>
                  <a:off x="3026434" y="1009291"/>
                  <a:ext cx="531962" cy="810883"/>
                </a:xfrm>
                <a:prstGeom prst="rect">
                  <a:avLst/>
                </a:prstGeom>
                <a:solidFill>
                  <a:srgbClr val="DEEBF7"/>
                </a:solidFill>
              </p:spPr>
              <p:style>
                <a:lnRef idx="2">
                  <a:schemeClr val="accent4">
                    <a:shade val="50000"/>
                  </a:schemeClr>
                </a:lnRef>
                <a:fillRef idx="1">
                  <a:schemeClr val="accent4"/>
                </a:fillRef>
                <a:effectRef idx="0">
                  <a:schemeClr val="accent4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grpSp>
              <p:nvGrpSpPr>
                <p:cNvPr id="558" name="Groupe 557"/>
                <p:cNvGrpSpPr/>
                <p:nvPr/>
              </p:nvGrpSpPr>
              <p:grpSpPr>
                <a:xfrm>
                  <a:off x="3099039" y="1111370"/>
                  <a:ext cx="386752" cy="606724"/>
                  <a:chOff x="4399472" y="1561381"/>
                  <a:chExt cx="386752" cy="606724"/>
                </a:xfrm>
              </p:grpSpPr>
              <p:sp>
                <p:nvSpPr>
                  <p:cNvPr id="559" name="Ellipse 558"/>
                  <p:cNvSpPr/>
                  <p:nvPr/>
                </p:nvSpPr>
                <p:spPr>
                  <a:xfrm>
                    <a:off x="4399472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0" name="Ellipse 559"/>
                  <p:cNvSpPr/>
                  <p:nvPr/>
                </p:nvSpPr>
                <p:spPr>
                  <a:xfrm>
                    <a:off x="4399472" y="1800045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1" name="Ellipse 560"/>
                  <p:cNvSpPr/>
                  <p:nvPr/>
                </p:nvSpPr>
                <p:spPr>
                  <a:xfrm>
                    <a:off x="4656828" y="1561381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2" name="Ellipse 561"/>
                  <p:cNvSpPr/>
                  <p:nvPr/>
                </p:nvSpPr>
                <p:spPr>
                  <a:xfrm>
                    <a:off x="4656828" y="2038709"/>
                    <a:ext cx="129396" cy="129396"/>
                  </a:xfrm>
                  <a:prstGeom prst="ellipse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  <p:sp>
                <p:nvSpPr>
                  <p:cNvPr id="563" name="Ellipse 562"/>
                  <p:cNvSpPr/>
                  <p:nvPr/>
                </p:nvSpPr>
                <p:spPr>
                  <a:xfrm>
                    <a:off x="4399472" y="2038709"/>
                    <a:ext cx="129396" cy="129396"/>
                  </a:xfrm>
                  <a:prstGeom prst="ellipse">
                    <a:avLst/>
                  </a:prstGeom>
                  <a:solidFill>
                    <a:srgbClr val="5B9BD5"/>
                  </a:solidFill>
                </p:spPr>
                <p:style>
                  <a:lnRef idx="2">
                    <a:schemeClr val="accent1">
                      <a:shade val="50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fr-BE" dirty="0">
                      <a:solidFill>
                        <a:schemeClr val="tx1"/>
                      </a:solidFill>
                    </a:endParaRPr>
                  </a:p>
                </p:txBody>
              </p:sp>
            </p:grpSp>
          </p:grpSp>
          <p:sp>
            <p:nvSpPr>
              <p:cNvPr id="555" name="ZoneTexte 554"/>
              <p:cNvSpPr txBox="1"/>
              <p:nvPr/>
            </p:nvSpPr>
            <p:spPr>
              <a:xfrm>
                <a:off x="7225251" y="1291648"/>
                <a:ext cx="12625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fr-FR" dirty="0" smtClean="0"/>
                  <a:t>M=</a:t>
                </a:r>
                <a:r>
                  <a:rPr lang="fr-FR" sz="1600" dirty="0" err="1" smtClean="0"/>
                  <a:t>SymH</a:t>
                </a:r>
                <a:r>
                  <a:rPr lang="fr-FR" dirty="0" smtClean="0"/>
                  <a:t>(U)</a:t>
                </a:r>
                <a:endParaRPr lang="fr-BE" dirty="0"/>
              </a:p>
            </p:txBody>
          </p:sp>
          <p:sp>
            <p:nvSpPr>
              <p:cNvPr id="556" name="Ellipse 555"/>
              <p:cNvSpPr/>
              <p:nvPr/>
            </p:nvSpPr>
            <p:spPr>
              <a:xfrm>
                <a:off x="7849269" y="1927521"/>
                <a:ext cx="129396" cy="129396"/>
              </a:xfrm>
              <a:prstGeom prst="ellipse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552" name="Connecteur droit avec flèche 551"/>
            <p:cNvCxnSpPr>
              <a:stCxn id="567" idx="3"/>
              <a:endCxn id="557" idx="1"/>
            </p:cNvCxnSpPr>
            <p:nvPr/>
          </p:nvCxnSpPr>
          <p:spPr>
            <a:xfrm flipV="1">
              <a:off x="1600229" y="3071171"/>
              <a:ext cx="758729" cy="3919"/>
            </a:xfrm>
            <a:prstGeom prst="straightConnector1">
              <a:avLst/>
            </a:prstGeom>
            <a:ln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553" name="ZoneTexte 552"/>
            <p:cNvSpPr txBox="1"/>
            <p:nvPr/>
          </p:nvSpPr>
          <p:spPr>
            <a:xfrm>
              <a:off x="1550613" y="2815197"/>
              <a:ext cx="873444" cy="29238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sz="1300" dirty="0"/>
                <a:t>Symmetry</a:t>
              </a:r>
              <a:endParaRPr lang="fr-BE" sz="1300" dirty="0"/>
            </a:p>
          </p:txBody>
        </p:sp>
      </p:grpSp>
      <p:grpSp>
        <p:nvGrpSpPr>
          <p:cNvPr id="574" name="Groupe 573"/>
          <p:cNvGrpSpPr/>
          <p:nvPr/>
        </p:nvGrpSpPr>
        <p:grpSpPr>
          <a:xfrm>
            <a:off x="9978923" y="3642835"/>
            <a:ext cx="784189" cy="1104817"/>
            <a:chOff x="7404428" y="1291648"/>
            <a:chExt cx="784189" cy="1104817"/>
          </a:xfrm>
        </p:grpSpPr>
        <p:grpSp>
          <p:nvGrpSpPr>
            <p:cNvPr id="575" name="Groupe 574"/>
            <p:cNvGrpSpPr/>
            <p:nvPr/>
          </p:nvGrpSpPr>
          <p:grpSpPr>
            <a:xfrm>
              <a:off x="7519308" y="1585582"/>
              <a:ext cx="531962" cy="810883"/>
              <a:chOff x="3026434" y="1009291"/>
              <a:chExt cx="531962" cy="810883"/>
            </a:xfrm>
          </p:grpSpPr>
          <p:sp>
            <p:nvSpPr>
              <p:cNvPr id="578" name="Rectangle 577"/>
              <p:cNvSpPr/>
              <p:nvPr/>
            </p:nvSpPr>
            <p:spPr>
              <a:xfrm>
                <a:off x="3026434" y="1009291"/>
                <a:ext cx="531962" cy="810883"/>
              </a:xfrm>
              <a:prstGeom prst="rect">
                <a:avLst/>
              </a:prstGeom>
              <a:solidFill>
                <a:srgbClr val="DEEBF7"/>
              </a:solidFill>
            </p:spPr>
            <p:style>
              <a:lnRef idx="2">
                <a:schemeClr val="accent4">
                  <a:shade val="50000"/>
                </a:schemeClr>
              </a:lnRef>
              <a:fillRef idx="1">
                <a:schemeClr val="accent4"/>
              </a:fillRef>
              <a:effectRef idx="0">
                <a:schemeClr val="accent4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fr-BE" dirty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579" name="Groupe 578"/>
              <p:cNvGrpSpPr/>
              <p:nvPr/>
            </p:nvGrpSpPr>
            <p:grpSpPr>
              <a:xfrm>
                <a:off x="3099039" y="1111370"/>
                <a:ext cx="386752" cy="606724"/>
                <a:chOff x="4399472" y="1561381"/>
                <a:chExt cx="386752" cy="606724"/>
              </a:xfrm>
            </p:grpSpPr>
            <p:sp>
              <p:nvSpPr>
                <p:cNvPr id="580" name="Ellipse 579"/>
                <p:cNvSpPr/>
                <p:nvPr/>
              </p:nvSpPr>
              <p:spPr>
                <a:xfrm>
                  <a:off x="4399472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1" name="Ellipse 580"/>
                <p:cNvSpPr/>
                <p:nvPr/>
              </p:nvSpPr>
              <p:spPr>
                <a:xfrm>
                  <a:off x="4399472" y="1800045"/>
                  <a:ext cx="129396" cy="129396"/>
                </a:xfrm>
                <a:prstGeom prst="ellipse">
                  <a:avLst/>
                </a:prstGeom>
                <a:solidFill>
                  <a:schemeClr val="bg1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2" name="Ellipse 581"/>
                <p:cNvSpPr/>
                <p:nvPr/>
              </p:nvSpPr>
              <p:spPr>
                <a:xfrm>
                  <a:off x="4656828" y="1561381"/>
                  <a:ext cx="129396" cy="129396"/>
                </a:xfrm>
                <a:prstGeom prst="ellipse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3" name="Ellipse 582"/>
                <p:cNvSpPr/>
                <p:nvPr/>
              </p:nvSpPr>
              <p:spPr>
                <a:xfrm>
                  <a:off x="4656828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  <p:sp>
              <p:nvSpPr>
                <p:cNvPr id="584" name="Ellipse 583"/>
                <p:cNvSpPr/>
                <p:nvPr/>
              </p:nvSpPr>
              <p:spPr>
                <a:xfrm>
                  <a:off x="4399472" y="2038709"/>
                  <a:ext cx="129396" cy="129396"/>
                </a:xfrm>
                <a:prstGeom prst="ellipse">
                  <a:avLst/>
                </a:prstGeom>
                <a:solidFill>
                  <a:srgbClr val="5B9BD5"/>
                </a:soli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fr-BE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sp>
          <p:nvSpPr>
            <p:cNvPr id="576" name="ZoneTexte 575"/>
            <p:cNvSpPr txBox="1"/>
            <p:nvPr/>
          </p:nvSpPr>
          <p:spPr>
            <a:xfrm>
              <a:off x="7404428" y="1291648"/>
              <a:ext cx="78418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fr-FR" dirty="0" smtClean="0"/>
                <a:t>Y=</a:t>
              </a:r>
              <a:r>
                <a:rPr lang="fr-FR" dirty="0" err="1" smtClean="0"/>
                <a:t>N+Z</a:t>
              </a:r>
              <a:endParaRPr lang="fr-BE" dirty="0"/>
            </a:p>
          </p:txBody>
        </p:sp>
        <p:sp>
          <p:nvSpPr>
            <p:cNvPr id="577" name="Ellipse 576"/>
            <p:cNvSpPr/>
            <p:nvPr/>
          </p:nvSpPr>
          <p:spPr>
            <a:xfrm>
              <a:off x="7849269" y="1927521"/>
              <a:ext cx="129396" cy="129396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BE" dirty="0">
                <a:solidFill>
                  <a:schemeClr val="tx1"/>
                </a:solidFill>
              </a:endParaRPr>
            </a:p>
          </p:txBody>
        </p:sp>
      </p:grpSp>
      <p:sp>
        <p:nvSpPr>
          <p:cNvPr id="83" name="ZoneTexte 82"/>
          <p:cNvSpPr txBox="1"/>
          <p:nvPr/>
        </p:nvSpPr>
        <p:spPr>
          <a:xfrm>
            <a:off x="1094887" y="6304633"/>
            <a:ext cx="847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1 point</a:t>
            </a:r>
            <a:endParaRPr lang="fr-BE" dirty="0"/>
          </a:p>
        </p:txBody>
      </p:sp>
      <p:sp>
        <p:nvSpPr>
          <p:cNvPr id="589" name="ZoneTexte 588"/>
          <p:cNvSpPr txBox="1"/>
          <p:nvPr/>
        </p:nvSpPr>
        <p:spPr>
          <a:xfrm>
            <a:off x="2988278" y="6317975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2</a:t>
            </a:r>
            <a:r>
              <a:rPr lang="fr-FR" dirty="0" smtClean="0"/>
              <a:t> points</a:t>
            </a:r>
            <a:endParaRPr lang="fr-BE" dirty="0"/>
          </a:p>
        </p:txBody>
      </p:sp>
      <p:sp>
        <p:nvSpPr>
          <p:cNvPr id="590" name="ZoneTexte 589"/>
          <p:cNvSpPr txBox="1"/>
          <p:nvPr/>
        </p:nvSpPr>
        <p:spPr>
          <a:xfrm>
            <a:off x="5478354" y="6313027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3 points</a:t>
            </a:r>
            <a:endParaRPr lang="fr-BE" dirty="0"/>
          </a:p>
        </p:txBody>
      </p:sp>
      <p:sp>
        <p:nvSpPr>
          <p:cNvPr id="591" name="ZoneTexte 590"/>
          <p:cNvSpPr txBox="1"/>
          <p:nvPr/>
        </p:nvSpPr>
        <p:spPr>
          <a:xfrm>
            <a:off x="7904217" y="6294571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/>
              <a:t>4</a:t>
            </a:r>
            <a:r>
              <a:rPr lang="fr-FR" dirty="0" smtClean="0"/>
              <a:t> points</a:t>
            </a:r>
            <a:endParaRPr lang="fr-BE" dirty="0"/>
          </a:p>
        </p:txBody>
      </p:sp>
      <p:sp>
        <p:nvSpPr>
          <p:cNvPr id="592" name="ZoneTexte 591"/>
          <p:cNvSpPr txBox="1"/>
          <p:nvPr/>
        </p:nvSpPr>
        <p:spPr>
          <a:xfrm>
            <a:off x="9908614" y="6325011"/>
            <a:ext cx="93756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dirty="0" smtClean="0"/>
              <a:t>5 points</a:t>
            </a:r>
            <a:endParaRPr lang="fr-BE" dirty="0"/>
          </a:p>
        </p:txBody>
      </p:sp>
      <p:sp>
        <p:nvSpPr>
          <p:cNvPr id="2" name="ZoneTexte 1"/>
          <p:cNvSpPr txBox="1"/>
          <p:nvPr/>
        </p:nvSpPr>
        <p:spPr>
          <a:xfrm>
            <a:off x="2488227" y="135384"/>
            <a:ext cx="7001147" cy="369332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r>
              <a:rPr lang="fr-BE" dirty="0" smtClean="0"/>
              <a:t> Braille Alphabet: Classification and </a:t>
            </a:r>
            <a:r>
              <a:rPr lang="fr-BE" dirty="0" smtClean="0"/>
              <a:t>Relations V2         </a:t>
            </a:r>
            <a:r>
              <a:rPr lang="fr-BE" dirty="0" smtClean="0"/>
              <a:t>©2022 Michel Kern</a:t>
            </a:r>
            <a:endParaRPr lang="fr-BE" dirty="0"/>
          </a:p>
        </p:txBody>
      </p:sp>
      <p:sp>
        <p:nvSpPr>
          <p:cNvPr id="332" name="ZoneTexte 331"/>
          <p:cNvSpPr txBox="1"/>
          <p:nvPr/>
        </p:nvSpPr>
        <p:spPr>
          <a:xfrm>
            <a:off x="5441013" y="1158461"/>
            <a:ext cx="873444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fr-FR" sz="1300" dirty="0" smtClean="0"/>
              <a:t>Symmetry</a:t>
            </a:r>
            <a:endParaRPr lang="fr-BE" sz="1300" dirty="0"/>
          </a:p>
        </p:txBody>
      </p:sp>
    </p:spTree>
    <p:extLst>
      <p:ext uri="{BB962C8B-B14F-4D97-AF65-F5344CB8AC3E}">
        <p14:creationId xmlns:p14="http://schemas.microsoft.com/office/powerpoint/2010/main" val="10772147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373</TotalTime>
  <Words>72</Words>
  <Application>Microsoft Office PowerPoint</Application>
  <PresentationFormat>Grand écran</PresentationFormat>
  <Paragraphs>41</Paragraphs>
  <Slides>1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3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Thème Office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Compte Microsoft</dc:creator>
  <cp:lastModifiedBy>Compte Microsoft</cp:lastModifiedBy>
  <cp:revision>221</cp:revision>
  <dcterms:created xsi:type="dcterms:W3CDTF">2022-07-17T16:52:27Z</dcterms:created>
  <dcterms:modified xsi:type="dcterms:W3CDTF">2022-07-19T13:19:14Z</dcterms:modified>
</cp:coreProperties>
</file>