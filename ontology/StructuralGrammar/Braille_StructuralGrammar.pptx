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915DBF-C938-4063-AC7C-AA9E660F5A99}" type="slidenum"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D154AF-05B8-4D69-8256-B29E6872BD62}" type="slidenum"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411413-7896-4531-9F92-0FEAFD1298C1}" type="slidenum"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A95331-4A39-485B-ABEB-571E35B3B9FC}" type="slidenum"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882C06-4D5D-4C2A-9183-9826DDE97084}" type="slidenum"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F1BF24-0730-4624-9489-4FF92B7B9C95}" type="slidenum"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4A0CCE-2BCC-47B6-9C48-4E9B50D3DFE6}" type="slidenum"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2CB6E9-2436-401F-BABA-64AC93521EAE}" type="slidenum"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023C35-55D5-4F7B-BFD9-A5BFD6317FE1}" type="slidenum"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Modifiez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86A8CF-C1B6-4DE7-B7DC-613D550447C1}" type="slidenum"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E1E381-687D-4118-A8D3-8940102980F2}" type="slidenum">
              <a:rPr lang="fr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B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7"/>
          <p:cNvSpPr/>
          <p:nvPr/>
        </p:nvSpPr>
        <p:spPr>
          <a:xfrm>
            <a:off x="10621440" y="622440"/>
            <a:ext cx="1028880" cy="5746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Rectangle 586"/>
          <p:cNvSpPr/>
          <p:nvPr/>
        </p:nvSpPr>
        <p:spPr>
          <a:xfrm>
            <a:off x="7847640" y="621000"/>
            <a:ext cx="2774160" cy="5748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Rectangle 585"/>
          <p:cNvSpPr/>
          <p:nvPr/>
        </p:nvSpPr>
        <p:spPr>
          <a:xfrm>
            <a:off x="5337000" y="621000"/>
            <a:ext cx="2512080" cy="5748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584"/>
          <p:cNvSpPr/>
          <p:nvPr/>
        </p:nvSpPr>
        <p:spPr>
          <a:xfrm>
            <a:off x="2747160" y="621000"/>
            <a:ext cx="2591280" cy="5748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77"/>
          <p:cNvSpPr/>
          <p:nvPr/>
        </p:nvSpPr>
        <p:spPr>
          <a:xfrm>
            <a:off x="1768320" y="621000"/>
            <a:ext cx="978480" cy="5748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64" name="Groupe 132"/>
          <p:cNvGrpSpPr/>
          <p:nvPr/>
        </p:nvGrpSpPr>
        <p:grpSpPr>
          <a:xfrm>
            <a:off x="8951040" y="5416200"/>
            <a:ext cx="531360" cy="810000"/>
            <a:chOff x="8951040" y="5416200"/>
            <a:chExt cx="531360" cy="810000"/>
          </a:xfrm>
        </p:grpSpPr>
        <p:sp>
          <p:nvSpPr>
            <p:cNvPr id="65" name="Rectangle 134"/>
            <p:cNvSpPr/>
            <p:nvPr/>
          </p:nvSpPr>
          <p:spPr>
            <a:xfrm>
              <a:off x="8951040" y="5416200"/>
              <a:ext cx="531360" cy="81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66" name="Groupe 135"/>
            <p:cNvGrpSpPr/>
            <p:nvPr/>
          </p:nvGrpSpPr>
          <p:grpSpPr>
            <a:xfrm>
              <a:off x="9023760" y="5518440"/>
              <a:ext cx="385920" cy="605880"/>
              <a:chOff x="9023760" y="5518440"/>
              <a:chExt cx="385920" cy="605880"/>
            </a:xfrm>
          </p:grpSpPr>
          <p:sp>
            <p:nvSpPr>
              <p:cNvPr id="67" name="Ellipse 136"/>
              <p:cNvSpPr/>
              <p:nvPr/>
            </p:nvSpPr>
            <p:spPr>
              <a:xfrm>
                <a:off x="9023760" y="55184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8" name="Ellipse 138"/>
              <p:cNvSpPr/>
              <p:nvPr/>
            </p:nvSpPr>
            <p:spPr>
              <a:xfrm>
                <a:off x="9023760" y="57571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9" name="Ellipse 139"/>
              <p:cNvSpPr/>
              <p:nvPr/>
            </p:nvSpPr>
            <p:spPr>
              <a:xfrm>
                <a:off x="9281160" y="55184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" name="Ellipse 140"/>
              <p:cNvSpPr/>
              <p:nvPr/>
            </p:nvSpPr>
            <p:spPr>
              <a:xfrm>
                <a:off x="9281160" y="59958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1" name="Ellipse 141"/>
              <p:cNvSpPr/>
              <p:nvPr/>
            </p:nvSpPr>
            <p:spPr>
              <a:xfrm>
                <a:off x="9023760" y="59958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72" name="ZoneTexte 133"/>
          <p:cNvSpPr/>
          <p:nvPr/>
        </p:nvSpPr>
        <p:spPr>
          <a:xfrm>
            <a:off x="8826120" y="5086440"/>
            <a:ext cx="797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BE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G</a:t>
            </a:r>
            <a:r>
              <a: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BE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F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+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D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Ellipse 94"/>
          <p:cNvSpPr/>
          <p:nvPr/>
        </p:nvSpPr>
        <p:spPr>
          <a:xfrm>
            <a:off x="9281160" y="575820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100"/>
          <p:cNvSpPr/>
          <p:nvPr/>
        </p:nvSpPr>
        <p:spPr>
          <a:xfrm>
            <a:off x="2016000" y="3050640"/>
            <a:ext cx="531360" cy="810000"/>
          </a:xfrm>
          <a:prstGeom prst="rect">
            <a:avLst/>
          </a:prstGeom>
          <a:solidFill>
            <a:srgbClr val="DEE6EF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75" name="Groupe 101"/>
          <p:cNvGrpSpPr/>
          <p:nvPr/>
        </p:nvGrpSpPr>
        <p:grpSpPr>
          <a:xfrm>
            <a:off x="2088720" y="3152880"/>
            <a:ext cx="385920" cy="605880"/>
            <a:chOff x="2088720" y="3152880"/>
            <a:chExt cx="385920" cy="605880"/>
          </a:xfrm>
        </p:grpSpPr>
        <p:sp>
          <p:nvSpPr>
            <p:cNvPr id="76" name="Ellipse 102"/>
            <p:cNvSpPr/>
            <p:nvPr/>
          </p:nvSpPr>
          <p:spPr>
            <a:xfrm>
              <a:off x="2088720" y="3152880"/>
              <a:ext cx="128520" cy="128520"/>
            </a:xfrm>
            <a:prstGeom prst="ellipse">
              <a:avLst/>
            </a:prstGeom>
            <a:solidFill>
              <a:srgbClr val="5B9BD5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7" name="Ellipse 105"/>
            <p:cNvSpPr/>
            <p:nvPr/>
          </p:nvSpPr>
          <p:spPr>
            <a:xfrm>
              <a:off x="2088720" y="3391560"/>
              <a:ext cx="128520" cy="12852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8" name="Ellipse 106"/>
            <p:cNvSpPr/>
            <p:nvPr/>
          </p:nvSpPr>
          <p:spPr>
            <a:xfrm>
              <a:off x="2346120" y="3152880"/>
              <a:ext cx="128520" cy="12852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9" name="Ellipse 107"/>
            <p:cNvSpPr/>
            <p:nvPr/>
          </p:nvSpPr>
          <p:spPr>
            <a:xfrm>
              <a:off x="2346120" y="3630240"/>
              <a:ext cx="128520" cy="12852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0" name="Ellipse 108"/>
            <p:cNvSpPr/>
            <p:nvPr/>
          </p:nvSpPr>
          <p:spPr>
            <a:xfrm>
              <a:off x="2088720" y="3630240"/>
              <a:ext cx="128520" cy="12852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1" name="ZoneTexte 98"/>
          <p:cNvSpPr/>
          <p:nvPr/>
        </p:nvSpPr>
        <p:spPr>
          <a:xfrm>
            <a:off x="1764000" y="2699280"/>
            <a:ext cx="101700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fr-BE" sz="16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A</a:t>
            </a:r>
            <a:r>
              <a:rPr lang="fr-B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= </a:t>
            </a:r>
            <a:r>
              <a:rPr lang="fr-BE" sz="16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C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Microsoft YaHei"/>
              </a:rPr>
              <a:t>-</a:t>
            </a: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(</a:t>
            </a:r>
            <a:r>
              <a:rPr lang="fr-FR" sz="16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Microsoft YaHei"/>
              </a:rPr>
              <a:t>||</a:t>
            </a:r>
            <a:r>
              <a:rPr lang="fr-FR" sz="16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L</a:t>
            </a: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)</a:t>
            </a:r>
            <a:endParaRPr lang="fr-B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Ellipse 99"/>
          <p:cNvSpPr/>
          <p:nvPr/>
        </p:nvSpPr>
        <p:spPr>
          <a:xfrm>
            <a:off x="2346120" y="339264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53"/>
          <p:cNvSpPr/>
          <p:nvPr/>
        </p:nvSpPr>
        <p:spPr>
          <a:xfrm>
            <a:off x="2880000" y="748800"/>
            <a:ext cx="2253600" cy="1142280"/>
          </a:xfrm>
          <a:prstGeom prst="rect">
            <a:avLst/>
          </a:prstGeom>
          <a:solidFill>
            <a:srgbClr val="FFF2CC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ZoneTexte 189"/>
          <p:cNvSpPr/>
          <p:nvPr/>
        </p:nvSpPr>
        <p:spPr>
          <a:xfrm>
            <a:off x="3195720" y="672120"/>
            <a:ext cx="304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B</a:t>
            </a:r>
            <a:endParaRPr lang="fr-BE" sz="1800" b="0" u="none" strike="noStrike">
              <a:solidFill>
                <a:srgbClr val="00A933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"/>
          <p:cNvGrpSpPr/>
          <p:nvPr/>
        </p:nvGrpSpPr>
        <p:grpSpPr>
          <a:xfrm>
            <a:off x="3096000" y="989640"/>
            <a:ext cx="531360" cy="810000"/>
            <a:chOff x="3096000" y="989640"/>
            <a:chExt cx="531360" cy="810000"/>
          </a:xfrm>
        </p:grpSpPr>
        <p:sp>
          <p:nvSpPr>
            <p:cNvPr id="86" name="Rectangle 191"/>
            <p:cNvSpPr/>
            <p:nvPr/>
          </p:nvSpPr>
          <p:spPr>
            <a:xfrm>
              <a:off x="3096000" y="989640"/>
              <a:ext cx="531360" cy="81000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87" name=""/>
            <p:cNvGrpSpPr/>
            <p:nvPr/>
          </p:nvGrpSpPr>
          <p:grpSpPr>
            <a:xfrm>
              <a:off x="3168720" y="1091520"/>
              <a:ext cx="385920" cy="605880"/>
              <a:chOff x="3168720" y="1091520"/>
              <a:chExt cx="385920" cy="605880"/>
            </a:xfrm>
          </p:grpSpPr>
          <p:sp>
            <p:nvSpPr>
              <p:cNvPr id="88" name="Ellipse 197"/>
              <p:cNvSpPr/>
              <p:nvPr/>
            </p:nvSpPr>
            <p:spPr>
              <a:xfrm>
                <a:off x="3168720" y="156888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89" name=""/>
              <p:cNvGrpSpPr/>
              <p:nvPr/>
            </p:nvGrpSpPr>
            <p:grpSpPr>
              <a:xfrm>
                <a:off x="3168720" y="1091520"/>
                <a:ext cx="385920" cy="605880"/>
                <a:chOff x="3168720" y="1091520"/>
                <a:chExt cx="385920" cy="605880"/>
              </a:xfrm>
            </p:grpSpPr>
            <p:grpSp>
              <p:nvGrpSpPr>
                <p:cNvPr id="90" name=""/>
                <p:cNvGrpSpPr/>
                <p:nvPr/>
              </p:nvGrpSpPr>
              <p:grpSpPr>
                <a:xfrm>
                  <a:off x="3168720" y="1091520"/>
                  <a:ext cx="385920" cy="605880"/>
                  <a:chOff x="3168720" y="1091520"/>
                  <a:chExt cx="385920" cy="605880"/>
                </a:xfrm>
              </p:grpSpPr>
              <p:sp>
                <p:nvSpPr>
                  <p:cNvPr id="91" name="Ellipse 193"/>
                  <p:cNvSpPr/>
                  <p:nvPr/>
                </p:nvSpPr>
                <p:spPr>
                  <a:xfrm>
                    <a:off x="3168720" y="1091520"/>
                    <a:ext cx="128520" cy="128520"/>
                  </a:xfrm>
                  <a:prstGeom prst="ellipse">
                    <a:avLst/>
                  </a:prstGeom>
                  <a:solidFill>
                    <a:srgbClr val="5B9BD5"/>
                  </a:solidFill>
                  <a:ln>
                    <a:solidFill>
                      <a:srgbClr val="43729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fr-BE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92" name="Ellipse 194"/>
                  <p:cNvSpPr/>
                  <p:nvPr/>
                </p:nvSpPr>
                <p:spPr>
                  <a:xfrm>
                    <a:off x="3168720" y="1330200"/>
                    <a:ext cx="128520" cy="128520"/>
                  </a:xfrm>
                  <a:prstGeom prst="ellipse">
                    <a:avLst/>
                  </a:prstGeom>
                  <a:solidFill>
                    <a:srgbClr val="5B9BD5"/>
                  </a:solidFill>
                  <a:ln>
                    <a:solidFill>
                      <a:srgbClr val="43729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fr-BE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93" name="Ellipse 195"/>
                  <p:cNvSpPr/>
                  <p:nvPr/>
                </p:nvSpPr>
                <p:spPr>
                  <a:xfrm>
                    <a:off x="3426120" y="1091520"/>
                    <a:ext cx="128520" cy="1285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43729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fr-BE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94" name="Ellipse 196"/>
                  <p:cNvSpPr/>
                  <p:nvPr/>
                </p:nvSpPr>
                <p:spPr>
                  <a:xfrm>
                    <a:off x="3426120" y="1568880"/>
                    <a:ext cx="128520" cy="1285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43729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fr-BE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</p:grpSp>
            <p:sp>
              <p:nvSpPr>
                <p:cNvPr id="95" name="Ellipse 190"/>
                <p:cNvSpPr/>
                <p:nvPr/>
              </p:nvSpPr>
              <p:spPr>
                <a:xfrm>
                  <a:off x="3426120" y="1331280"/>
                  <a:ext cx="128520" cy="1285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43729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fr-BE" sz="18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96" name="ZoneTexte 200"/>
          <p:cNvSpPr/>
          <p:nvPr/>
        </p:nvSpPr>
        <p:spPr>
          <a:xfrm>
            <a:off x="4160160" y="668160"/>
            <a:ext cx="86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    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C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=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Microsoft YaHei"/>
              </a:rPr>
              <a:t>&gt;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B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" name=""/>
          <p:cNvGrpSpPr/>
          <p:nvPr/>
        </p:nvGrpSpPr>
        <p:grpSpPr>
          <a:xfrm>
            <a:off x="4443480" y="998280"/>
            <a:ext cx="531360" cy="810000"/>
            <a:chOff x="4443480" y="998280"/>
            <a:chExt cx="531360" cy="810000"/>
          </a:xfrm>
        </p:grpSpPr>
        <p:sp>
          <p:nvSpPr>
            <p:cNvPr id="98" name="Rectangle 202"/>
            <p:cNvSpPr/>
            <p:nvPr/>
          </p:nvSpPr>
          <p:spPr>
            <a:xfrm>
              <a:off x="4443480" y="99828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99" name=""/>
            <p:cNvGrpSpPr/>
            <p:nvPr/>
          </p:nvGrpSpPr>
          <p:grpSpPr>
            <a:xfrm>
              <a:off x="4515840" y="1100160"/>
              <a:ext cx="385920" cy="605880"/>
              <a:chOff x="4515840" y="1100160"/>
              <a:chExt cx="385920" cy="605880"/>
            </a:xfrm>
          </p:grpSpPr>
          <p:sp>
            <p:nvSpPr>
              <p:cNvPr id="100" name="Ellipse 207"/>
              <p:cNvSpPr/>
              <p:nvPr/>
            </p:nvSpPr>
            <p:spPr>
              <a:xfrm>
                <a:off x="4773240" y="15775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01" name=""/>
              <p:cNvGrpSpPr/>
              <p:nvPr/>
            </p:nvGrpSpPr>
            <p:grpSpPr>
              <a:xfrm>
                <a:off x="4515840" y="1100160"/>
                <a:ext cx="385920" cy="605880"/>
                <a:chOff x="4515840" y="1100160"/>
                <a:chExt cx="385920" cy="605880"/>
              </a:xfrm>
            </p:grpSpPr>
            <p:sp>
              <p:nvSpPr>
                <p:cNvPr id="102" name="Ellipse 206"/>
                <p:cNvSpPr/>
                <p:nvPr/>
              </p:nvSpPr>
              <p:spPr>
                <a:xfrm>
                  <a:off x="4773240" y="1100160"/>
                  <a:ext cx="128520" cy="128520"/>
                </a:xfrm>
                <a:prstGeom prst="ellipse">
                  <a:avLst/>
                </a:prstGeom>
                <a:solidFill>
                  <a:srgbClr val="5B9BD5"/>
                </a:solidFill>
                <a:ln>
                  <a:solidFill>
                    <a:srgbClr val="43729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fr-BE" sz="18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endParaRPr>
                </a:p>
              </p:txBody>
            </p:sp>
            <p:grpSp>
              <p:nvGrpSpPr>
                <p:cNvPr id="103" name=""/>
                <p:cNvGrpSpPr/>
                <p:nvPr/>
              </p:nvGrpSpPr>
              <p:grpSpPr>
                <a:xfrm>
                  <a:off x="4515840" y="1100160"/>
                  <a:ext cx="385920" cy="605880"/>
                  <a:chOff x="4515840" y="1100160"/>
                  <a:chExt cx="385920" cy="605880"/>
                </a:xfrm>
              </p:grpSpPr>
              <p:sp>
                <p:nvSpPr>
                  <p:cNvPr id="104" name="Ellipse 204"/>
                  <p:cNvSpPr/>
                  <p:nvPr/>
                </p:nvSpPr>
                <p:spPr>
                  <a:xfrm>
                    <a:off x="4515840" y="1100160"/>
                    <a:ext cx="128520" cy="128520"/>
                  </a:xfrm>
                  <a:prstGeom prst="ellipse">
                    <a:avLst/>
                  </a:prstGeom>
                  <a:solidFill>
                    <a:srgbClr val="5B9BD5"/>
                  </a:solidFill>
                  <a:ln>
                    <a:solidFill>
                      <a:srgbClr val="43729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fr-BE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05" name="Ellipse 205"/>
                  <p:cNvSpPr/>
                  <p:nvPr/>
                </p:nvSpPr>
                <p:spPr>
                  <a:xfrm>
                    <a:off x="4515840" y="1339200"/>
                    <a:ext cx="128520" cy="1285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43729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fr-BE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06" name="Ellipse 208"/>
                  <p:cNvSpPr/>
                  <p:nvPr/>
                </p:nvSpPr>
                <p:spPr>
                  <a:xfrm>
                    <a:off x="4515840" y="1577520"/>
                    <a:ext cx="128520" cy="1285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43729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fr-BE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07" name="Ellipse 201"/>
                  <p:cNvSpPr/>
                  <p:nvPr/>
                </p:nvSpPr>
                <p:spPr>
                  <a:xfrm>
                    <a:off x="4773240" y="1339200"/>
                    <a:ext cx="128520" cy="1285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43729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fr-BE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</p:grpSp>
          </p:grpSp>
        </p:grpSp>
      </p:grpSp>
      <p:cxnSp>
        <p:nvCxnSpPr>
          <p:cNvPr id="108" name="Connecteur droit avec flèche 30"/>
          <p:cNvCxnSpPr>
            <a:stCxn id="86" idx="3"/>
            <a:endCxn id="98" idx="1"/>
          </p:cNvCxnSpPr>
          <p:nvPr/>
        </p:nvCxnSpPr>
        <p:spPr>
          <a:xfrm>
            <a:off x="3627360" y="1394640"/>
            <a:ext cx="816480" cy="9000"/>
          </a:xfrm>
          <a:prstGeom prst="straightConnector1">
            <a:avLst/>
          </a:prstGeom>
          <a:ln w="0">
            <a:solidFill>
              <a:srgbClr val="5B9BD5"/>
            </a:solidFill>
            <a:headEnd len="med" type="triangle" w="med"/>
            <a:tailEnd len="med" type="triangle" w="med"/>
          </a:ln>
        </p:spPr>
      </p:cxnSp>
      <p:sp>
        <p:nvSpPr>
          <p:cNvPr id="109" name="ZoneTexte 31"/>
          <p:cNvSpPr/>
          <p:nvPr/>
        </p:nvSpPr>
        <p:spPr>
          <a:xfrm>
            <a:off x="3688200" y="1147680"/>
            <a:ext cx="748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3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Rotation</a:t>
            </a:r>
            <a:endParaRPr lang="fr-B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210"/>
          <p:cNvSpPr/>
          <p:nvPr/>
        </p:nvSpPr>
        <p:spPr>
          <a:xfrm>
            <a:off x="2944440" y="2248920"/>
            <a:ext cx="2274480" cy="1142280"/>
          </a:xfrm>
          <a:prstGeom prst="rect">
            <a:avLst/>
          </a:prstGeom>
          <a:solidFill>
            <a:srgbClr val="FFF2CC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11" name="Groupe 225"/>
          <p:cNvGrpSpPr/>
          <p:nvPr/>
        </p:nvGrpSpPr>
        <p:grpSpPr>
          <a:xfrm>
            <a:off x="3071520" y="2504520"/>
            <a:ext cx="539280" cy="810000"/>
            <a:chOff x="3071520" y="2504520"/>
            <a:chExt cx="539280" cy="810000"/>
          </a:xfrm>
        </p:grpSpPr>
        <p:sp>
          <p:nvSpPr>
            <p:cNvPr id="112" name="Rectangle 228"/>
            <p:cNvSpPr/>
            <p:nvPr/>
          </p:nvSpPr>
          <p:spPr>
            <a:xfrm>
              <a:off x="3071520" y="2504520"/>
              <a:ext cx="539280" cy="81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13" name="Groupe 229"/>
            <p:cNvGrpSpPr/>
            <p:nvPr/>
          </p:nvGrpSpPr>
          <p:grpSpPr>
            <a:xfrm>
              <a:off x="3144960" y="2606760"/>
              <a:ext cx="392040" cy="605880"/>
              <a:chOff x="3144960" y="2606760"/>
              <a:chExt cx="392040" cy="605880"/>
            </a:xfrm>
          </p:grpSpPr>
          <p:sp>
            <p:nvSpPr>
              <p:cNvPr id="114" name="Ellipse 230"/>
              <p:cNvSpPr/>
              <p:nvPr/>
            </p:nvSpPr>
            <p:spPr>
              <a:xfrm>
                <a:off x="3144960" y="2606760"/>
                <a:ext cx="13068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5" name="Ellipse 231"/>
              <p:cNvSpPr/>
              <p:nvPr/>
            </p:nvSpPr>
            <p:spPr>
              <a:xfrm>
                <a:off x="3144960" y="2845440"/>
                <a:ext cx="13068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6" name="Ellipse 232"/>
              <p:cNvSpPr/>
              <p:nvPr/>
            </p:nvSpPr>
            <p:spPr>
              <a:xfrm>
                <a:off x="3406320" y="2606760"/>
                <a:ext cx="13068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7" name="Ellipse 233"/>
              <p:cNvSpPr/>
              <p:nvPr/>
            </p:nvSpPr>
            <p:spPr>
              <a:xfrm>
                <a:off x="3406320" y="3084120"/>
                <a:ext cx="13068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8" name="Ellipse 234"/>
              <p:cNvSpPr/>
              <p:nvPr/>
            </p:nvSpPr>
            <p:spPr>
              <a:xfrm>
                <a:off x="3144960" y="3084120"/>
                <a:ext cx="13068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19" name="ZoneTexte 226"/>
          <p:cNvSpPr/>
          <p:nvPr/>
        </p:nvSpPr>
        <p:spPr>
          <a:xfrm>
            <a:off x="3011040" y="2174760"/>
            <a:ext cx="67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E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=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||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I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Ellipse 227"/>
          <p:cNvSpPr/>
          <p:nvPr/>
        </p:nvSpPr>
        <p:spPr>
          <a:xfrm>
            <a:off x="3406320" y="2846520"/>
            <a:ext cx="13068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21" name="Groupe 215"/>
          <p:cNvGrpSpPr/>
          <p:nvPr/>
        </p:nvGrpSpPr>
        <p:grpSpPr>
          <a:xfrm>
            <a:off x="4592160" y="2500560"/>
            <a:ext cx="539280" cy="810000"/>
            <a:chOff x="4592160" y="2500560"/>
            <a:chExt cx="539280" cy="810000"/>
          </a:xfrm>
        </p:grpSpPr>
        <p:sp>
          <p:nvSpPr>
            <p:cNvPr id="122" name="Rectangle 218"/>
            <p:cNvSpPr/>
            <p:nvPr/>
          </p:nvSpPr>
          <p:spPr>
            <a:xfrm>
              <a:off x="4592160" y="2500560"/>
              <a:ext cx="539280" cy="81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23" name="Groupe 219"/>
            <p:cNvGrpSpPr/>
            <p:nvPr/>
          </p:nvGrpSpPr>
          <p:grpSpPr>
            <a:xfrm>
              <a:off x="4665960" y="2602800"/>
              <a:ext cx="391680" cy="605880"/>
              <a:chOff x="4665960" y="2602800"/>
              <a:chExt cx="391680" cy="605880"/>
            </a:xfrm>
          </p:grpSpPr>
          <p:sp>
            <p:nvSpPr>
              <p:cNvPr id="124" name="Ellipse 220"/>
              <p:cNvSpPr/>
              <p:nvPr/>
            </p:nvSpPr>
            <p:spPr>
              <a:xfrm>
                <a:off x="4665960" y="2602800"/>
                <a:ext cx="13068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25" name="Ellipse 221"/>
              <p:cNvSpPr/>
              <p:nvPr/>
            </p:nvSpPr>
            <p:spPr>
              <a:xfrm>
                <a:off x="4665960" y="2841480"/>
                <a:ext cx="13068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26" name="Ellipse 222"/>
              <p:cNvSpPr/>
              <p:nvPr/>
            </p:nvSpPr>
            <p:spPr>
              <a:xfrm>
                <a:off x="4926960" y="2602800"/>
                <a:ext cx="13068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27" name="Ellipse 223"/>
              <p:cNvSpPr/>
              <p:nvPr/>
            </p:nvSpPr>
            <p:spPr>
              <a:xfrm>
                <a:off x="4926960" y="3080160"/>
                <a:ext cx="13068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28" name="Ellipse 224"/>
              <p:cNvSpPr/>
              <p:nvPr/>
            </p:nvSpPr>
            <p:spPr>
              <a:xfrm>
                <a:off x="4665960" y="3080160"/>
                <a:ext cx="13068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29" name="ZoneTexte 216"/>
          <p:cNvSpPr/>
          <p:nvPr/>
        </p:nvSpPr>
        <p:spPr>
          <a:xfrm>
            <a:off x="4516920" y="2170800"/>
            <a:ext cx="658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I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F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-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A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Ellipse 217"/>
          <p:cNvSpPr/>
          <p:nvPr/>
        </p:nvSpPr>
        <p:spPr>
          <a:xfrm>
            <a:off x="4926960" y="2842560"/>
            <a:ext cx="13068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31" name="Connecteur droit avec flèche 213"/>
          <p:cNvCxnSpPr>
            <a:stCxn id="112" idx="3"/>
            <a:endCxn id="122" idx="1"/>
          </p:cNvCxnSpPr>
          <p:nvPr/>
        </p:nvCxnSpPr>
        <p:spPr>
          <a:xfrm flipV="1">
            <a:off x="3610800" y="2905560"/>
            <a:ext cx="981720" cy="4320"/>
          </a:xfrm>
          <a:prstGeom prst="straightConnector1">
            <a:avLst/>
          </a:prstGeom>
          <a:ln w="0">
            <a:solidFill>
              <a:srgbClr val="5B9BD5"/>
            </a:solidFill>
            <a:headEnd len="med" type="triangle" w="med"/>
            <a:tailEnd len="med" type="triangle" w="med"/>
          </a:ln>
        </p:spPr>
      </p:cxnSp>
      <p:sp>
        <p:nvSpPr>
          <p:cNvPr id="132" name="ZoneTexte 214"/>
          <p:cNvSpPr/>
          <p:nvPr/>
        </p:nvSpPr>
        <p:spPr>
          <a:xfrm>
            <a:off x="3674520" y="2649960"/>
            <a:ext cx="8604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3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Symmetry</a:t>
            </a:r>
            <a:endParaRPr lang="fr-B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B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264"/>
          <p:cNvSpPr/>
          <p:nvPr/>
        </p:nvSpPr>
        <p:spPr>
          <a:xfrm>
            <a:off x="5529240" y="751680"/>
            <a:ext cx="2219040" cy="1142280"/>
          </a:xfrm>
          <a:prstGeom prst="rect">
            <a:avLst/>
          </a:prstGeom>
          <a:solidFill>
            <a:srgbClr val="FFF2CC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34" name="Groupe 279"/>
          <p:cNvGrpSpPr/>
          <p:nvPr/>
        </p:nvGrpSpPr>
        <p:grpSpPr>
          <a:xfrm>
            <a:off x="5632920" y="1007280"/>
            <a:ext cx="531360" cy="810000"/>
            <a:chOff x="5632920" y="1007280"/>
            <a:chExt cx="531360" cy="810000"/>
          </a:xfrm>
        </p:grpSpPr>
        <p:sp>
          <p:nvSpPr>
            <p:cNvPr id="135" name="Rectangle 282"/>
            <p:cNvSpPr/>
            <p:nvPr/>
          </p:nvSpPr>
          <p:spPr>
            <a:xfrm>
              <a:off x="5632920" y="1007280"/>
              <a:ext cx="531360" cy="81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36" name="Groupe 283"/>
            <p:cNvGrpSpPr/>
            <p:nvPr/>
          </p:nvGrpSpPr>
          <p:grpSpPr>
            <a:xfrm>
              <a:off x="5705280" y="1109520"/>
              <a:ext cx="385920" cy="605520"/>
              <a:chOff x="5705280" y="1109520"/>
              <a:chExt cx="385920" cy="605520"/>
            </a:xfrm>
          </p:grpSpPr>
          <p:sp>
            <p:nvSpPr>
              <p:cNvPr id="137" name="Ellipse 284"/>
              <p:cNvSpPr/>
              <p:nvPr/>
            </p:nvSpPr>
            <p:spPr>
              <a:xfrm>
                <a:off x="5705280" y="11095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38" name="Ellipse 285"/>
              <p:cNvSpPr/>
              <p:nvPr/>
            </p:nvSpPr>
            <p:spPr>
              <a:xfrm>
                <a:off x="5705280" y="13478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39" name="Ellipse 286"/>
              <p:cNvSpPr/>
              <p:nvPr/>
            </p:nvSpPr>
            <p:spPr>
              <a:xfrm>
                <a:off x="5962680" y="11095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40" name="Ellipse 287"/>
              <p:cNvSpPr/>
              <p:nvPr/>
            </p:nvSpPr>
            <p:spPr>
              <a:xfrm>
                <a:off x="5962680" y="15865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41" name="Ellipse 288"/>
              <p:cNvSpPr/>
              <p:nvPr/>
            </p:nvSpPr>
            <p:spPr>
              <a:xfrm>
                <a:off x="5705280" y="15865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42" name="ZoneTexte 280"/>
          <p:cNvSpPr/>
          <p:nvPr/>
        </p:nvSpPr>
        <p:spPr>
          <a:xfrm>
            <a:off x="5513040" y="677160"/>
            <a:ext cx="759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F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B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+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C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Ellipse 281"/>
          <p:cNvSpPr/>
          <p:nvPr/>
        </p:nvSpPr>
        <p:spPr>
          <a:xfrm>
            <a:off x="5962680" y="134928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44" name="Groupe 269"/>
          <p:cNvGrpSpPr/>
          <p:nvPr/>
        </p:nvGrpSpPr>
        <p:grpSpPr>
          <a:xfrm>
            <a:off x="7107480" y="1003320"/>
            <a:ext cx="531360" cy="810000"/>
            <a:chOff x="7107480" y="1003320"/>
            <a:chExt cx="531360" cy="810000"/>
          </a:xfrm>
        </p:grpSpPr>
        <p:sp>
          <p:nvSpPr>
            <p:cNvPr id="145" name="Rectangle 272"/>
            <p:cNvSpPr/>
            <p:nvPr/>
          </p:nvSpPr>
          <p:spPr>
            <a:xfrm>
              <a:off x="7107480" y="1003320"/>
              <a:ext cx="531360" cy="81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46" name="Groupe 273"/>
            <p:cNvGrpSpPr/>
            <p:nvPr/>
          </p:nvGrpSpPr>
          <p:grpSpPr>
            <a:xfrm>
              <a:off x="7180200" y="1105560"/>
              <a:ext cx="385920" cy="605880"/>
              <a:chOff x="7180200" y="1105560"/>
              <a:chExt cx="385920" cy="605880"/>
            </a:xfrm>
          </p:grpSpPr>
          <p:sp>
            <p:nvSpPr>
              <p:cNvPr id="147" name="Ellipse 274"/>
              <p:cNvSpPr/>
              <p:nvPr/>
            </p:nvSpPr>
            <p:spPr>
              <a:xfrm>
                <a:off x="7180200" y="110556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48" name="Ellipse 275"/>
              <p:cNvSpPr/>
              <p:nvPr/>
            </p:nvSpPr>
            <p:spPr>
              <a:xfrm>
                <a:off x="7180200" y="134424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49" name="Ellipse 276"/>
              <p:cNvSpPr/>
              <p:nvPr/>
            </p:nvSpPr>
            <p:spPr>
              <a:xfrm>
                <a:off x="7437600" y="110556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50" name="Ellipse 277"/>
              <p:cNvSpPr/>
              <p:nvPr/>
            </p:nvSpPr>
            <p:spPr>
              <a:xfrm>
                <a:off x="7437600" y="15829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51" name="Ellipse 278"/>
              <p:cNvSpPr/>
              <p:nvPr/>
            </p:nvSpPr>
            <p:spPr>
              <a:xfrm>
                <a:off x="7180200" y="15829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52" name="ZoneTexte 270"/>
          <p:cNvSpPr/>
          <p:nvPr/>
        </p:nvSpPr>
        <p:spPr>
          <a:xfrm>
            <a:off x="6704280" y="673560"/>
            <a:ext cx="1009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     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D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=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Microsoft YaHei"/>
              </a:rPr>
              <a:t>|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Microsoft YaHei"/>
              </a:rPr>
              <a:t>|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F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Ellipse 271"/>
          <p:cNvSpPr/>
          <p:nvPr/>
        </p:nvSpPr>
        <p:spPr>
          <a:xfrm>
            <a:off x="7437600" y="134532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54" name="Connecteur droit avec flèche 267"/>
          <p:cNvCxnSpPr>
            <a:stCxn id="135" idx="3"/>
            <a:endCxn id="145" idx="1"/>
          </p:cNvCxnSpPr>
          <p:nvPr/>
        </p:nvCxnSpPr>
        <p:spPr>
          <a:xfrm flipV="1">
            <a:off x="6164280" y="1408320"/>
            <a:ext cx="943560" cy="4320"/>
          </a:xfrm>
          <a:prstGeom prst="straightConnector1">
            <a:avLst/>
          </a:prstGeom>
          <a:ln w="0">
            <a:solidFill>
              <a:srgbClr val="5B9BD5"/>
            </a:solidFill>
            <a:headEnd len="med" type="triangle" w="med"/>
            <a:tailEnd len="med" type="triangle" w="med"/>
          </a:ln>
        </p:spPr>
      </p:cxnSp>
      <p:sp>
        <p:nvSpPr>
          <p:cNvPr id="155" name="ZoneTexte 268"/>
          <p:cNvSpPr/>
          <p:nvPr/>
        </p:nvSpPr>
        <p:spPr>
          <a:xfrm>
            <a:off x="6215040" y="1152720"/>
            <a:ext cx="1839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fr-BE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239"/>
          <p:cNvSpPr/>
          <p:nvPr/>
        </p:nvSpPr>
        <p:spPr>
          <a:xfrm>
            <a:off x="5524920" y="2254320"/>
            <a:ext cx="2217960" cy="1142280"/>
          </a:xfrm>
          <a:prstGeom prst="rect">
            <a:avLst/>
          </a:prstGeom>
          <a:solidFill>
            <a:srgbClr val="FFF2CC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57" name="Groupe 254"/>
          <p:cNvGrpSpPr/>
          <p:nvPr/>
        </p:nvGrpSpPr>
        <p:grpSpPr>
          <a:xfrm>
            <a:off x="5683680" y="2509920"/>
            <a:ext cx="531360" cy="810000"/>
            <a:chOff x="5683680" y="2509920"/>
            <a:chExt cx="531360" cy="810000"/>
          </a:xfrm>
        </p:grpSpPr>
        <p:sp>
          <p:nvSpPr>
            <p:cNvPr id="158" name="Rectangle 257"/>
            <p:cNvSpPr/>
            <p:nvPr/>
          </p:nvSpPr>
          <p:spPr>
            <a:xfrm>
              <a:off x="5683680" y="250992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59" name="Groupe 258"/>
            <p:cNvGrpSpPr/>
            <p:nvPr/>
          </p:nvGrpSpPr>
          <p:grpSpPr>
            <a:xfrm>
              <a:off x="5756400" y="2611800"/>
              <a:ext cx="385920" cy="605880"/>
              <a:chOff x="5756400" y="2611800"/>
              <a:chExt cx="385920" cy="605880"/>
            </a:xfrm>
          </p:grpSpPr>
          <p:sp>
            <p:nvSpPr>
              <p:cNvPr id="160" name="Ellipse 259"/>
              <p:cNvSpPr/>
              <p:nvPr/>
            </p:nvSpPr>
            <p:spPr>
              <a:xfrm>
                <a:off x="5756400" y="261180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61" name="Ellipse 260"/>
              <p:cNvSpPr/>
              <p:nvPr/>
            </p:nvSpPr>
            <p:spPr>
              <a:xfrm>
                <a:off x="5756400" y="285048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62" name="Ellipse 261"/>
              <p:cNvSpPr/>
              <p:nvPr/>
            </p:nvSpPr>
            <p:spPr>
              <a:xfrm>
                <a:off x="6013800" y="26118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63" name="Ellipse 262"/>
              <p:cNvSpPr/>
              <p:nvPr/>
            </p:nvSpPr>
            <p:spPr>
              <a:xfrm>
                <a:off x="6013800" y="308916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64" name="Ellipse 263"/>
              <p:cNvSpPr/>
              <p:nvPr/>
            </p:nvSpPr>
            <p:spPr>
              <a:xfrm>
                <a:off x="5756400" y="308916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65" name="ZoneTexte 255"/>
          <p:cNvSpPr/>
          <p:nvPr/>
        </p:nvSpPr>
        <p:spPr>
          <a:xfrm>
            <a:off x="5578920" y="2179800"/>
            <a:ext cx="72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H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=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Microsoft YaHei"/>
              </a:rPr>
              <a:t>||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J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Ellipse 256"/>
          <p:cNvSpPr/>
          <p:nvPr/>
        </p:nvSpPr>
        <p:spPr>
          <a:xfrm>
            <a:off x="6013800" y="285156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67" name="Groupe 244"/>
          <p:cNvGrpSpPr/>
          <p:nvPr/>
        </p:nvGrpSpPr>
        <p:grpSpPr>
          <a:xfrm>
            <a:off x="7103880" y="2505960"/>
            <a:ext cx="531360" cy="810000"/>
            <a:chOff x="7103880" y="2505960"/>
            <a:chExt cx="531360" cy="810000"/>
          </a:xfrm>
        </p:grpSpPr>
        <p:sp>
          <p:nvSpPr>
            <p:cNvPr id="168" name="Rectangle 247"/>
            <p:cNvSpPr/>
            <p:nvPr/>
          </p:nvSpPr>
          <p:spPr>
            <a:xfrm>
              <a:off x="7103880" y="250596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69" name="Groupe 248"/>
            <p:cNvGrpSpPr/>
            <p:nvPr/>
          </p:nvGrpSpPr>
          <p:grpSpPr>
            <a:xfrm>
              <a:off x="7176240" y="2607840"/>
              <a:ext cx="385920" cy="605880"/>
              <a:chOff x="7176240" y="2607840"/>
              <a:chExt cx="385920" cy="605880"/>
            </a:xfrm>
          </p:grpSpPr>
          <p:sp>
            <p:nvSpPr>
              <p:cNvPr id="170" name="Ellipse 249"/>
              <p:cNvSpPr/>
              <p:nvPr/>
            </p:nvSpPr>
            <p:spPr>
              <a:xfrm>
                <a:off x="7176240" y="260784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71" name="Ellipse 250"/>
              <p:cNvSpPr/>
              <p:nvPr/>
            </p:nvSpPr>
            <p:spPr>
              <a:xfrm>
                <a:off x="7176240" y="28465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72" name="Ellipse 251"/>
              <p:cNvSpPr/>
              <p:nvPr/>
            </p:nvSpPr>
            <p:spPr>
              <a:xfrm>
                <a:off x="7433640" y="26078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73" name="Ellipse 252"/>
              <p:cNvSpPr/>
              <p:nvPr/>
            </p:nvSpPr>
            <p:spPr>
              <a:xfrm>
                <a:off x="7433640" y="30852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74" name="Ellipse 253"/>
              <p:cNvSpPr/>
              <p:nvPr/>
            </p:nvSpPr>
            <p:spPr>
              <a:xfrm>
                <a:off x="7176240" y="30852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75" name="ZoneTexte 245"/>
          <p:cNvSpPr/>
          <p:nvPr/>
        </p:nvSpPr>
        <p:spPr>
          <a:xfrm>
            <a:off x="6967080" y="2175840"/>
            <a:ext cx="765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J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G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-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A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Ellipse 246"/>
          <p:cNvSpPr/>
          <p:nvPr/>
        </p:nvSpPr>
        <p:spPr>
          <a:xfrm>
            <a:off x="7433640" y="284760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77" name="Connecteur droit avec flèche 242"/>
          <p:cNvCxnSpPr>
            <a:stCxn id="158" idx="3"/>
            <a:endCxn id="168" idx="1"/>
          </p:cNvCxnSpPr>
          <p:nvPr/>
        </p:nvCxnSpPr>
        <p:spPr>
          <a:xfrm flipV="1">
            <a:off x="6215040" y="2910960"/>
            <a:ext cx="889200" cy="4320"/>
          </a:xfrm>
          <a:prstGeom prst="straightConnector1">
            <a:avLst/>
          </a:prstGeom>
          <a:ln w="0">
            <a:solidFill>
              <a:srgbClr val="5B9BD5"/>
            </a:solidFill>
            <a:headEnd len="med" type="triangle" w="med"/>
            <a:tailEnd len="med" type="triangle" w="med"/>
          </a:ln>
        </p:spPr>
      </p:cxnSp>
      <p:sp>
        <p:nvSpPr>
          <p:cNvPr id="178" name="ZoneTexte 243"/>
          <p:cNvSpPr/>
          <p:nvPr/>
        </p:nvSpPr>
        <p:spPr>
          <a:xfrm>
            <a:off x="6236640" y="2655360"/>
            <a:ext cx="860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3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Symmetry</a:t>
            </a:r>
            <a:endParaRPr lang="fr-B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344"/>
          <p:cNvSpPr/>
          <p:nvPr/>
        </p:nvSpPr>
        <p:spPr>
          <a:xfrm>
            <a:off x="7976520" y="743400"/>
            <a:ext cx="2503800" cy="1142280"/>
          </a:xfrm>
          <a:prstGeom prst="rect">
            <a:avLst/>
          </a:prstGeom>
          <a:solidFill>
            <a:srgbClr val="FFF2CC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80" name="Groupe 359"/>
          <p:cNvGrpSpPr/>
          <p:nvPr/>
        </p:nvGrpSpPr>
        <p:grpSpPr>
          <a:xfrm>
            <a:off x="8088480" y="999000"/>
            <a:ext cx="531360" cy="810000"/>
            <a:chOff x="8088480" y="999000"/>
            <a:chExt cx="531360" cy="810000"/>
          </a:xfrm>
        </p:grpSpPr>
        <p:sp>
          <p:nvSpPr>
            <p:cNvPr id="181" name="Rectangle 362"/>
            <p:cNvSpPr/>
            <p:nvPr/>
          </p:nvSpPr>
          <p:spPr>
            <a:xfrm>
              <a:off x="8088480" y="99900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82" name="Groupe 363"/>
            <p:cNvGrpSpPr/>
            <p:nvPr/>
          </p:nvGrpSpPr>
          <p:grpSpPr>
            <a:xfrm>
              <a:off x="8161200" y="1101240"/>
              <a:ext cx="385920" cy="605520"/>
              <a:chOff x="8161200" y="1101240"/>
              <a:chExt cx="385920" cy="605520"/>
            </a:xfrm>
          </p:grpSpPr>
          <p:sp>
            <p:nvSpPr>
              <p:cNvPr id="183" name="Ellipse 364"/>
              <p:cNvSpPr/>
              <p:nvPr/>
            </p:nvSpPr>
            <p:spPr>
              <a:xfrm>
                <a:off x="8161200" y="11012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84" name="Ellipse 365"/>
              <p:cNvSpPr/>
              <p:nvPr/>
            </p:nvSpPr>
            <p:spPr>
              <a:xfrm>
                <a:off x="8161200" y="133956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85" name="Ellipse 366"/>
              <p:cNvSpPr/>
              <p:nvPr/>
            </p:nvSpPr>
            <p:spPr>
              <a:xfrm>
                <a:off x="8418600" y="110124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86" name="Ellipse 367"/>
              <p:cNvSpPr/>
              <p:nvPr/>
            </p:nvSpPr>
            <p:spPr>
              <a:xfrm>
                <a:off x="8418600" y="157824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87" name="Ellipse 368"/>
              <p:cNvSpPr/>
              <p:nvPr/>
            </p:nvSpPr>
            <p:spPr>
              <a:xfrm>
                <a:off x="8161200" y="15782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88" name="ZoneTexte 360"/>
          <p:cNvSpPr/>
          <p:nvPr/>
        </p:nvSpPr>
        <p:spPr>
          <a:xfrm>
            <a:off x="7971120" y="669240"/>
            <a:ext cx="770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R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L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+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H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Ellipse 361"/>
          <p:cNvSpPr/>
          <p:nvPr/>
        </p:nvSpPr>
        <p:spPr>
          <a:xfrm>
            <a:off x="8418600" y="134100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90" name="Groupe 349"/>
          <p:cNvGrpSpPr/>
          <p:nvPr/>
        </p:nvGrpSpPr>
        <p:grpSpPr>
          <a:xfrm>
            <a:off x="9610920" y="995040"/>
            <a:ext cx="531360" cy="810000"/>
            <a:chOff x="9610920" y="995040"/>
            <a:chExt cx="531360" cy="810000"/>
          </a:xfrm>
        </p:grpSpPr>
        <p:sp>
          <p:nvSpPr>
            <p:cNvPr id="191" name="Rectangle 352"/>
            <p:cNvSpPr/>
            <p:nvPr/>
          </p:nvSpPr>
          <p:spPr>
            <a:xfrm>
              <a:off x="9610920" y="99504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92" name="Groupe 353"/>
            <p:cNvGrpSpPr/>
            <p:nvPr/>
          </p:nvGrpSpPr>
          <p:grpSpPr>
            <a:xfrm>
              <a:off x="9683640" y="1097280"/>
              <a:ext cx="385920" cy="605880"/>
              <a:chOff x="9683640" y="1097280"/>
              <a:chExt cx="385920" cy="605880"/>
            </a:xfrm>
          </p:grpSpPr>
          <p:sp>
            <p:nvSpPr>
              <p:cNvPr id="193" name="Ellipse 354"/>
              <p:cNvSpPr/>
              <p:nvPr/>
            </p:nvSpPr>
            <p:spPr>
              <a:xfrm>
                <a:off x="9683640" y="109728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94" name="Ellipse 355"/>
              <p:cNvSpPr/>
              <p:nvPr/>
            </p:nvSpPr>
            <p:spPr>
              <a:xfrm>
                <a:off x="9683640" y="133596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95" name="Ellipse 356"/>
              <p:cNvSpPr/>
              <p:nvPr/>
            </p:nvSpPr>
            <p:spPr>
              <a:xfrm>
                <a:off x="9941040" y="109728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96" name="Ellipse 357"/>
              <p:cNvSpPr/>
              <p:nvPr/>
            </p:nvSpPr>
            <p:spPr>
              <a:xfrm>
                <a:off x="9941040" y="15746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97" name="Ellipse 358"/>
              <p:cNvSpPr/>
              <p:nvPr/>
            </p:nvSpPr>
            <p:spPr>
              <a:xfrm>
                <a:off x="9683640" y="157464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98" name="ZoneTexte 350"/>
          <p:cNvSpPr/>
          <p:nvPr/>
        </p:nvSpPr>
        <p:spPr>
          <a:xfrm>
            <a:off x="9465840" y="665280"/>
            <a:ext cx="832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W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=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Microsoft YaHei"/>
              </a:rPr>
              <a:t>||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R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Ellipse 351"/>
          <p:cNvSpPr/>
          <p:nvPr/>
        </p:nvSpPr>
        <p:spPr>
          <a:xfrm>
            <a:off x="9941040" y="133704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00" name="Connecteur droit avec flèche 347"/>
          <p:cNvCxnSpPr>
            <a:stCxn id="181" idx="3"/>
            <a:endCxn id="191" idx="1"/>
          </p:cNvCxnSpPr>
          <p:nvPr/>
        </p:nvCxnSpPr>
        <p:spPr>
          <a:xfrm flipV="1">
            <a:off x="8619840" y="1400040"/>
            <a:ext cx="991440" cy="4320"/>
          </a:xfrm>
          <a:prstGeom prst="straightConnector1">
            <a:avLst/>
          </a:prstGeom>
          <a:ln w="0">
            <a:solidFill>
              <a:srgbClr val="5B9BD5"/>
            </a:solidFill>
            <a:headEnd len="med" type="triangle" w="med"/>
            <a:tailEnd len="med" type="triangle" w="med"/>
          </a:ln>
        </p:spPr>
      </p:cxnSp>
      <p:sp>
        <p:nvSpPr>
          <p:cNvPr id="201" name="ZoneTexte 348"/>
          <p:cNvSpPr/>
          <p:nvPr/>
        </p:nvSpPr>
        <p:spPr>
          <a:xfrm>
            <a:off x="8678520" y="1144440"/>
            <a:ext cx="860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3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Symmetry</a:t>
            </a:r>
            <a:endParaRPr lang="fr-B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370"/>
          <p:cNvSpPr/>
          <p:nvPr/>
        </p:nvSpPr>
        <p:spPr>
          <a:xfrm>
            <a:off x="7976520" y="2245680"/>
            <a:ext cx="2499480" cy="1142280"/>
          </a:xfrm>
          <a:prstGeom prst="rect">
            <a:avLst/>
          </a:prstGeom>
          <a:solidFill>
            <a:srgbClr val="FFF2CC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203" name="Groupe 385"/>
          <p:cNvGrpSpPr/>
          <p:nvPr/>
        </p:nvGrpSpPr>
        <p:grpSpPr>
          <a:xfrm>
            <a:off x="8092440" y="2501280"/>
            <a:ext cx="531360" cy="810000"/>
            <a:chOff x="8092440" y="2501280"/>
            <a:chExt cx="531360" cy="810000"/>
          </a:xfrm>
        </p:grpSpPr>
        <p:sp>
          <p:nvSpPr>
            <p:cNvPr id="204" name="Rectangle 388"/>
            <p:cNvSpPr/>
            <p:nvPr/>
          </p:nvSpPr>
          <p:spPr>
            <a:xfrm>
              <a:off x="8092440" y="2501280"/>
              <a:ext cx="531360" cy="81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05" name="Groupe 389"/>
            <p:cNvGrpSpPr/>
            <p:nvPr/>
          </p:nvGrpSpPr>
          <p:grpSpPr>
            <a:xfrm>
              <a:off x="8165160" y="2603520"/>
              <a:ext cx="385920" cy="605520"/>
              <a:chOff x="8165160" y="2603520"/>
              <a:chExt cx="385920" cy="605520"/>
            </a:xfrm>
          </p:grpSpPr>
          <p:sp>
            <p:nvSpPr>
              <p:cNvPr id="206" name="Ellipse 390"/>
              <p:cNvSpPr/>
              <p:nvPr/>
            </p:nvSpPr>
            <p:spPr>
              <a:xfrm>
                <a:off x="8165160" y="26035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07" name="Ellipse 391"/>
              <p:cNvSpPr/>
              <p:nvPr/>
            </p:nvSpPr>
            <p:spPr>
              <a:xfrm>
                <a:off x="8165160" y="284220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08" name="Ellipse 392"/>
              <p:cNvSpPr/>
              <p:nvPr/>
            </p:nvSpPr>
            <p:spPr>
              <a:xfrm>
                <a:off x="8422560" y="26035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09" name="Ellipse 393"/>
              <p:cNvSpPr/>
              <p:nvPr/>
            </p:nvSpPr>
            <p:spPr>
              <a:xfrm>
                <a:off x="8422560" y="30805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10" name="Ellipse 394"/>
              <p:cNvSpPr/>
              <p:nvPr/>
            </p:nvSpPr>
            <p:spPr>
              <a:xfrm>
                <a:off x="8165160" y="30805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11" name="ZoneTexte 386"/>
          <p:cNvSpPr/>
          <p:nvPr/>
        </p:nvSpPr>
        <p:spPr>
          <a:xfrm>
            <a:off x="7984440" y="2171520"/>
            <a:ext cx="746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P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L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+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B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Ellipse 387"/>
          <p:cNvSpPr/>
          <p:nvPr/>
        </p:nvSpPr>
        <p:spPr>
          <a:xfrm>
            <a:off x="8422560" y="284328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213" name="Groupe 375"/>
          <p:cNvGrpSpPr/>
          <p:nvPr/>
        </p:nvGrpSpPr>
        <p:grpSpPr>
          <a:xfrm>
            <a:off x="9659160" y="2497320"/>
            <a:ext cx="531360" cy="810000"/>
            <a:chOff x="9659160" y="2497320"/>
            <a:chExt cx="531360" cy="810000"/>
          </a:xfrm>
        </p:grpSpPr>
        <p:sp>
          <p:nvSpPr>
            <p:cNvPr id="214" name="Rectangle 378"/>
            <p:cNvSpPr/>
            <p:nvPr/>
          </p:nvSpPr>
          <p:spPr>
            <a:xfrm>
              <a:off x="9659160" y="2497320"/>
              <a:ext cx="531360" cy="81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15" name="Groupe 379"/>
            <p:cNvGrpSpPr/>
            <p:nvPr/>
          </p:nvGrpSpPr>
          <p:grpSpPr>
            <a:xfrm>
              <a:off x="9731880" y="2599560"/>
              <a:ext cx="385920" cy="605880"/>
              <a:chOff x="9731880" y="2599560"/>
              <a:chExt cx="385920" cy="605880"/>
            </a:xfrm>
          </p:grpSpPr>
          <p:sp>
            <p:nvSpPr>
              <p:cNvPr id="216" name="Ellipse 380"/>
              <p:cNvSpPr/>
              <p:nvPr/>
            </p:nvSpPr>
            <p:spPr>
              <a:xfrm>
                <a:off x="9731880" y="259956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17" name="Ellipse 381"/>
              <p:cNvSpPr/>
              <p:nvPr/>
            </p:nvSpPr>
            <p:spPr>
              <a:xfrm>
                <a:off x="9731880" y="28382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18" name="Ellipse 382"/>
              <p:cNvSpPr/>
              <p:nvPr/>
            </p:nvSpPr>
            <p:spPr>
              <a:xfrm>
                <a:off x="9989280" y="259956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19" name="Ellipse 383"/>
              <p:cNvSpPr/>
              <p:nvPr/>
            </p:nvSpPr>
            <p:spPr>
              <a:xfrm>
                <a:off x="9989280" y="30769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20" name="Ellipse 384"/>
              <p:cNvSpPr/>
              <p:nvPr/>
            </p:nvSpPr>
            <p:spPr>
              <a:xfrm>
                <a:off x="9731880" y="30769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21" name="ZoneTexte 376"/>
          <p:cNvSpPr/>
          <p:nvPr/>
        </p:nvSpPr>
        <p:spPr>
          <a:xfrm>
            <a:off x="9552240" y="2167560"/>
            <a:ext cx="752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V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=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Microsoft YaHei"/>
              </a:rPr>
              <a:t>||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P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Ellipse 377"/>
          <p:cNvSpPr/>
          <p:nvPr/>
        </p:nvSpPr>
        <p:spPr>
          <a:xfrm>
            <a:off x="9989280" y="283932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23" name="Connecteur droit avec flèche 373"/>
          <p:cNvCxnSpPr>
            <a:stCxn id="204" idx="3"/>
            <a:endCxn id="214" idx="1"/>
          </p:cNvCxnSpPr>
          <p:nvPr/>
        </p:nvCxnSpPr>
        <p:spPr>
          <a:xfrm flipV="1">
            <a:off x="8623800" y="2902320"/>
            <a:ext cx="1035720" cy="4320"/>
          </a:xfrm>
          <a:prstGeom prst="straightConnector1">
            <a:avLst/>
          </a:prstGeom>
          <a:ln w="0">
            <a:solidFill>
              <a:srgbClr val="5B9BD5"/>
            </a:solidFill>
            <a:headEnd len="med" type="triangle" w="med"/>
            <a:tailEnd len="med" type="triangle" w="med"/>
          </a:ln>
        </p:spPr>
      </p:cxnSp>
      <p:sp>
        <p:nvSpPr>
          <p:cNvPr id="224" name="ZoneTexte 374"/>
          <p:cNvSpPr/>
          <p:nvPr/>
        </p:nvSpPr>
        <p:spPr>
          <a:xfrm>
            <a:off x="8708760" y="2664000"/>
            <a:ext cx="860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3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Symmetry</a:t>
            </a:r>
            <a:endParaRPr lang="fr-B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5" name="Groupe 396"/>
          <p:cNvGrpSpPr/>
          <p:nvPr/>
        </p:nvGrpSpPr>
        <p:grpSpPr>
          <a:xfrm>
            <a:off x="3752640" y="4497840"/>
            <a:ext cx="531360" cy="810000"/>
            <a:chOff x="3752640" y="4497840"/>
            <a:chExt cx="531360" cy="810000"/>
          </a:xfrm>
        </p:grpSpPr>
        <p:sp>
          <p:nvSpPr>
            <p:cNvPr id="226" name="Rectangle 399"/>
            <p:cNvSpPr/>
            <p:nvPr/>
          </p:nvSpPr>
          <p:spPr>
            <a:xfrm>
              <a:off x="3752640" y="4497840"/>
              <a:ext cx="531360" cy="81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27" name="Groupe 400"/>
            <p:cNvGrpSpPr/>
            <p:nvPr/>
          </p:nvGrpSpPr>
          <p:grpSpPr>
            <a:xfrm>
              <a:off x="3825360" y="4599720"/>
              <a:ext cx="385560" cy="605880"/>
              <a:chOff x="3825360" y="4599720"/>
              <a:chExt cx="385560" cy="605880"/>
            </a:xfrm>
          </p:grpSpPr>
          <p:sp>
            <p:nvSpPr>
              <p:cNvPr id="228" name="Ellipse 401"/>
              <p:cNvSpPr/>
              <p:nvPr/>
            </p:nvSpPr>
            <p:spPr>
              <a:xfrm>
                <a:off x="3825360" y="45997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29" name="Ellipse 402"/>
              <p:cNvSpPr/>
              <p:nvPr/>
            </p:nvSpPr>
            <p:spPr>
              <a:xfrm>
                <a:off x="3825360" y="48384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30" name="Ellipse 403"/>
              <p:cNvSpPr/>
              <p:nvPr/>
            </p:nvSpPr>
            <p:spPr>
              <a:xfrm>
                <a:off x="4082400" y="45997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31" name="Ellipse 404"/>
              <p:cNvSpPr/>
              <p:nvPr/>
            </p:nvSpPr>
            <p:spPr>
              <a:xfrm>
                <a:off x="4082400" y="507708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32" name="Ellipse 405"/>
              <p:cNvSpPr/>
              <p:nvPr/>
            </p:nvSpPr>
            <p:spPr>
              <a:xfrm>
                <a:off x="3825360" y="507708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33" name="ZoneTexte 397"/>
          <p:cNvSpPr/>
          <p:nvPr/>
        </p:nvSpPr>
        <p:spPr>
          <a:xfrm>
            <a:off x="3692160" y="4167720"/>
            <a:ext cx="63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K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L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-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I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Ellipse 398"/>
          <p:cNvSpPr/>
          <p:nvPr/>
        </p:nvSpPr>
        <p:spPr>
          <a:xfrm>
            <a:off x="4082400" y="483984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235" name="Groupe 408"/>
          <p:cNvGrpSpPr/>
          <p:nvPr/>
        </p:nvGrpSpPr>
        <p:grpSpPr>
          <a:xfrm>
            <a:off x="5531040" y="5410440"/>
            <a:ext cx="531360" cy="810000"/>
            <a:chOff x="5531040" y="5410440"/>
            <a:chExt cx="531360" cy="810000"/>
          </a:xfrm>
        </p:grpSpPr>
        <p:sp>
          <p:nvSpPr>
            <p:cNvPr id="236" name="Rectangle 411"/>
            <p:cNvSpPr/>
            <p:nvPr/>
          </p:nvSpPr>
          <p:spPr>
            <a:xfrm>
              <a:off x="5531040" y="5410440"/>
              <a:ext cx="531360" cy="81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37" name="Groupe 412"/>
            <p:cNvGrpSpPr/>
            <p:nvPr/>
          </p:nvGrpSpPr>
          <p:grpSpPr>
            <a:xfrm>
              <a:off x="5595120" y="5512320"/>
              <a:ext cx="385920" cy="605880"/>
              <a:chOff x="5595120" y="5512320"/>
              <a:chExt cx="385920" cy="605880"/>
            </a:xfrm>
          </p:grpSpPr>
          <p:sp>
            <p:nvSpPr>
              <p:cNvPr id="238" name="Ellipse 413"/>
              <p:cNvSpPr/>
              <p:nvPr/>
            </p:nvSpPr>
            <p:spPr>
              <a:xfrm>
                <a:off x="5595120" y="55123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39" name="Ellipse 414"/>
              <p:cNvSpPr/>
              <p:nvPr/>
            </p:nvSpPr>
            <p:spPr>
              <a:xfrm>
                <a:off x="5595120" y="57510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40" name="Ellipse 415"/>
              <p:cNvSpPr/>
              <p:nvPr/>
            </p:nvSpPr>
            <p:spPr>
              <a:xfrm>
                <a:off x="5852520" y="55123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41" name="Ellipse 416"/>
              <p:cNvSpPr/>
              <p:nvPr/>
            </p:nvSpPr>
            <p:spPr>
              <a:xfrm>
                <a:off x="5852520" y="598968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42" name="Ellipse 417"/>
              <p:cNvSpPr/>
              <p:nvPr/>
            </p:nvSpPr>
            <p:spPr>
              <a:xfrm>
                <a:off x="5595120" y="598968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43" name="ZoneTexte 409"/>
          <p:cNvSpPr/>
          <p:nvPr/>
        </p:nvSpPr>
        <p:spPr>
          <a:xfrm>
            <a:off x="5405040" y="5080320"/>
            <a:ext cx="789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O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K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+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E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Ellipse 410"/>
          <p:cNvSpPr/>
          <p:nvPr/>
        </p:nvSpPr>
        <p:spPr>
          <a:xfrm>
            <a:off x="5852520" y="575244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ectangle 419"/>
          <p:cNvSpPr/>
          <p:nvPr/>
        </p:nvSpPr>
        <p:spPr>
          <a:xfrm>
            <a:off x="7977960" y="3663360"/>
            <a:ext cx="2496960" cy="1142280"/>
          </a:xfrm>
          <a:prstGeom prst="rect">
            <a:avLst/>
          </a:prstGeom>
          <a:solidFill>
            <a:srgbClr val="FFF2CC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246" name="Groupe 434"/>
          <p:cNvGrpSpPr/>
          <p:nvPr/>
        </p:nvGrpSpPr>
        <p:grpSpPr>
          <a:xfrm>
            <a:off x="8215920" y="3918960"/>
            <a:ext cx="531360" cy="810000"/>
            <a:chOff x="8215920" y="3918960"/>
            <a:chExt cx="531360" cy="810000"/>
          </a:xfrm>
        </p:grpSpPr>
        <p:sp>
          <p:nvSpPr>
            <p:cNvPr id="247" name="Rectangle 437"/>
            <p:cNvSpPr/>
            <p:nvPr/>
          </p:nvSpPr>
          <p:spPr>
            <a:xfrm>
              <a:off x="8215920" y="391896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48" name="Groupe 438"/>
            <p:cNvGrpSpPr/>
            <p:nvPr/>
          </p:nvGrpSpPr>
          <p:grpSpPr>
            <a:xfrm>
              <a:off x="8288640" y="4021200"/>
              <a:ext cx="385920" cy="605880"/>
              <a:chOff x="8288640" y="4021200"/>
              <a:chExt cx="385920" cy="605880"/>
            </a:xfrm>
          </p:grpSpPr>
          <p:sp>
            <p:nvSpPr>
              <p:cNvPr id="249" name="Ellipse 439"/>
              <p:cNvSpPr/>
              <p:nvPr/>
            </p:nvSpPr>
            <p:spPr>
              <a:xfrm>
                <a:off x="8288640" y="402120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50" name="Ellipse 440"/>
              <p:cNvSpPr/>
              <p:nvPr/>
            </p:nvSpPr>
            <p:spPr>
              <a:xfrm>
                <a:off x="8288640" y="425988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51" name="Ellipse 441"/>
              <p:cNvSpPr/>
              <p:nvPr/>
            </p:nvSpPr>
            <p:spPr>
              <a:xfrm>
                <a:off x="8546040" y="40212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52" name="Ellipse 442"/>
              <p:cNvSpPr/>
              <p:nvPr/>
            </p:nvSpPr>
            <p:spPr>
              <a:xfrm>
                <a:off x="8546040" y="449856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53" name="Ellipse 443"/>
              <p:cNvSpPr/>
              <p:nvPr/>
            </p:nvSpPr>
            <p:spPr>
              <a:xfrm>
                <a:off x="8288640" y="449856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54" name="ZoneTexte 435"/>
          <p:cNvSpPr/>
          <p:nvPr/>
        </p:nvSpPr>
        <p:spPr>
          <a:xfrm>
            <a:off x="8120160" y="3589200"/>
            <a:ext cx="688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Z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=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N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Ellipse 436"/>
          <p:cNvSpPr/>
          <p:nvPr/>
        </p:nvSpPr>
        <p:spPr>
          <a:xfrm>
            <a:off x="8546040" y="426096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256" name="Groupe 424"/>
          <p:cNvGrpSpPr/>
          <p:nvPr/>
        </p:nvGrpSpPr>
        <p:grpSpPr>
          <a:xfrm>
            <a:off x="9817200" y="3915000"/>
            <a:ext cx="531360" cy="810000"/>
            <a:chOff x="9817200" y="3915000"/>
            <a:chExt cx="531360" cy="810000"/>
          </a:xfrm>
        </p:grpSpPr>
        <p:sp>
          <p:nvSpPr>
            <p:cNvPr id="257" name="Rectangle 427"/>
            <p:cNvSpPr/>
            <p:nvPr/>
          </p:nvSpPr>
          <p:spPr>
            <a:xfrm>
              <a:off x="9817200" y="391500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58" name="Groupe 428"/>
            <p:cNvGrpSpPr/>
            <p:nvPr/>
          </p:nvGrpSpPr>
          <p:grpSpPr>
            <a:xfrm>
              <a:off x="9889920" y="4017240"/>
              <a:ext cx="385920" cy="605880"/>
              <a:chOff x="9889920" y="4017240"/>
              <a:chExt cx="385920" cy="605880"/>
            </a:xfrm>
          </p:grpSpPr>
          <p:sp>
            <p:nvSpPr>
              <p:cNvPr id="259" name="Ellipse 429"/>
              <p:cNvSpPr/>
              <p:nvPr/>
            </p:nvSpPr>
            <p:spPr>
              <a:xfrm>
                <a:off x="9889920" y="40172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60" name="Ellipse 430"/>
              <p:cNvSpPr/>
              <p:nvPr/>
            </p:nvSpPr>
            <p:spPr>
              <a:xfrm>
                <a:off x="9889920" y="42559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61" name="Ellipse 431"/>
              <p:cNvSpPr/>
              <p:nvPr/>
            </p:nvSpPr>
            <p:spPr>
              <a:xfrm>
                <a:off x="10147320" y="40172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62" name="Ellipse 432"/>
              <p:cNvSpPr/>
              <p:nvPr/>
            </p:nvSpPr>
            <p:spPr>
              <a:xfrm>
                <a:off x="10147320" y="44946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63" name="Ellipse 433"/>
              <p:cNvSpPr/>
              <p:nvPr/>
            </p:nvSpPr>
            <p:spPr>
              <a:xfrm>
                <a:off x="9889920" y="449460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64" name="ZoneTexte 425"/>
          <p:cNvSpPr/>
          <p:nvPr/>
        </p:nvSpPr>
        <p:spPr>
          <a:xfrm>
            <a:off x="9668160" y="3585240"/>
            <a:ext cx="81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N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K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+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D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Ellipse 426"/>
          <p:cNvSpPr/>
          <p:nvPr/>
        </p:nvSpPr>
        <p:spPr>
          <a:xfrm>
            <a:off x="10147320" y="425700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66" name="Connecteur droit avec flèche 422"/>
          <p:cNvCxnSpPr>
            <a:stCxn id="247" idx="3"/>
            <a:endCxn id="257" idx="1"/>
          </p:cNvCxnSpPr>
          <p:nvPr/>
        </p:nvCxnSpPr>
        <p:spPr>
          <a:xfrm flipV="1">
            <a:off x="8747280" y="4320000"/>
            <a:ext cx="1070280" cy="4320"/>
          </a:xfrm>
          <a:prstGeom prst="straightConnector1">
            <a:avLst/>
          </a:prstGeom>
          <a:ln w="0">
            <a:solidFill>
              <a:srgbClr val="5B9BD5"/>
            </a:solidFill>
            <a:headEnd len="med" type="triangle" w="med"/>
            <a:tailEnd len="med" type="triangle" w="med"/>
          </a:ln>
        </p:spPr>
      </p:cxnSp>
      <p:sp>
        <p:nvSpPr>
          <p:cNvPr id="267" name="ZoneTexte 423"/>
          <p:cNvSpPr/>
          <p:nvPr/>
        </p:nvSpPr>
        <p:spPr>
          <a:xfrm>
            <a:off x="8836560" y="4081680"/>
            <a:ext cx="860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3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Symmetry</a:t>
            </a:r>
            <a:endParaRPr lang="fr-BE" sz="13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grpSp>
        <p:nvGrpSpPr>
          <p:cNvPr id="268" name="Groupe 471"/>
          <p:cNvGrpSpPr/>
          <p:nvPr/>
        </p:nvGrpSpPr>
        <p:grpSpPr>
          <a:xfrm>
            <a:off x="10849680" y="2341800"/>
            <a:ext cx="531360" cy="810000"/>
            <a:chOff x="10849680" y="2341800"/>
            <a:chExt cx="531360" cy="810000"/>
          </a:xfrm>
        </p:grpSpPr>
        <p:sp>
          <p:nvSpPr>
            <p:cNvPr id="269" name="Rectangle 474"/>
            <p:cNvSpPr/>
            <p:nvPr/>
          </p:nvSpPr>
          <p:spPr>
            <a:xfrm>
              <a:off x="10849680" y="2341800"/>
              <a:ext cx="531360" cy="81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70" name="Groupe 475"/>
            <p:cNvGrpSpPr/>
            <p:nvPr/>
          </p:nvGrpSpPr>
          <p:grpSpPr>
            <a:xfrm>
              <a:off x="10922400" y="2444040"/>
              <a:ext cx="385920" cy="605880"/>
              <a:chOff x="10922400" y="2444040"/>
              <a:chExt cx="385920" cy="605880"/>
            </a:xfrm>
          </p:grpSpPr>
          <p:sp>
            <p:nvSpPr>
              <p:cNvPr id="271" name="Ellipse 476"/>
              <p:cNvSpPr/>
              <p:nvPr/>
            </p:nvSpPr>
            <p:spPr>
              <a:xfrm>
                <a:off x="10922400" y="24440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72" name="Ellipse 477"/>
              <p:cNvSpPr/>
              <p:nvPr/>
            </p:nvSpPr>
            <p:spPr>
              <a:xfrm>
                <a:off x="10922400" y="26827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73" name="Ellipse 478"/>
              <p:cNvSpPr/>
              <p:nvPr/>
            </p:nvSpPr>
            <p:spPr>
              <a:xfrm>
                <a:off x="11179800" y="24440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74" name="Ellipse 479"/>
              <p:cNvSpPr/>
              <p:nvPr/>
            </p:nvSpPr>
            <p:spPr>
              <a:xfrm>
                <a:off x="11179800" y="29214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75" name="Ellipse 480"/>
              <p:cNvSpPr/>
              <p:nvPr/>
            </p:nvSpPr>
            <p:spPr>
              <a:xfrm>
                <a:off x="10922400" y="292140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76" name="ZoneTexte 472"/>
          <p:cNvSpPr/>
          <p:nvPr/>
        </p:nvSpPr>
        <p:spPr>
          <a:xfrm>
            <a:off x="10722600" y="2012040"/>
            <a:ext cx="80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Q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L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+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G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Ellipse 473"/>
          <p:cNvSpPr/>
          <p:nvPr/>
        </p:nvSpPr>
        <p:spPr>
          <a:xfrm>
            <a:off x="11179800" y="268380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278" name="Groupe 482"/>
          <p:cNvGrpSpPr/>
          <p:nvPr/>
        </p:nvGrpSpPr>
        <p:grpSpPr>
          <a:xfrm>
            <a:off x="8057520" y="5418360"/>
            <a:ext cx="531360" cy="810000"/>
            <a:chOff x="8057520" y="5418360"/>
            <a:chExt cx="531360" cy="810000"/>
          </a:xfrm>
        </p:grpSpPr>
        <p:sp>
          <p:nvSpPr>
            <p:cNvPr id="279" name="Rectangle 485"/>
            <p:cNvSpPr/>
            <p:nvPr/>
          </p:nvSpPr>
          <p:spPr>
            <a:xfrm>
              <a:off x="8057520" y="541836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80" name="Groupe 486"/>
            <p:cNvGrpSpPr/>
            <p:nvPr/>
          </p:nvGrpSpPr>
          <p:grpSpPr>
            <a:xfrm>
              <a:off x="8130240" y="5520600"/>
              <a:ext cx="385560" cy="605880"/>
              <a:chOff x="8130240" y="5520600"/>
              <a:chExt cx="385560" cy="605880"/>
            </a:xfrm>
          </p:grpSpPr>
          <p:sp>
            <p:nvSpPr>
              <p:cNvPr id="281" name="Ellipse 487"/>
              <p:cNvSpPr/>
              <p:nvPr/>
            </p:nvSpPr>
            <p:spPr>
              <a:xfrm>
                <a:off x="8130240" y="55206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82" name="Ellipse 488"/>
              <p:cNvSpPr/>
              <p:nvPr/>
            </p:nvSpPr>
            <p:spPr>
              <a:xfrm>
                <a:off x="8130240" y="575928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83" name="Ellipse 489"/>
              <p:cNvSpPr/>
              <p:nvPr/>
            </p:nvSpPr>
            <p:spPr>
              <a:xfrm>
                <a:off x="8387280" y="552060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84" name="Ellipse 490"/>
              <p:cNvSpPr/>
              <p:nvPr/>
            </p:nvSpPr>
            <p:spPr>
              <a:xfrm>
                <a:off x="8387280" y="599796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85" name="Ellipse 491"/>
              <p:cNvSpPr/>
              <p:nvPr/>
            </p:nvSpPr>
            <p:spPr>
              <a:xfrm>
                <a:off x="8130240" y="599796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86" name="ZoneTexte 483"/>
          <p:cNvSpPr/>
          <p:nvPr/>
        </p:nvSpPr>
        <p:spPr>
          <a:xfrm>
            <a:off x="7949520" y="5088600"/>
            <a:ext cx="696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T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S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+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J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Ellipse 484"/>
          <p:cNvSpPr/>
          <p:nvPr/>
        </p:nvSpPr>
        <p:spPr>
          <a:xfrm>
            <a:off x="8387280" y="576036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288" name="Groupe 493"/>
          <p:cNvGrpSpPr/>
          <p:nvPr/>
        </p:nvGrpSpPr>
        <p:grpSpPr>
          <a:xfrm>
            <a:off x="9856800" y="5416200"/>
            <a:ext cx="531360" cy="810000"/>
            <a:chOff x="9856800" y="5416200"/>
            <a:chExt cx="531360" cy="810000"/>
          </a:xfrm>
        </p:grpSpPr>
        <p:sp>
          <p:nvSpPr>
            <p:cNvPr id="289" name="Rectangle 496"/>
            <p:cNvSpPr/>
            <p:nvPr/>
          </p:nvSpPr>
          <p:spPr>
            <a:xfrm>
              <a:off x="9856800" y="541620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90" name="Groupe 497"/>
            <p:cNvGrpSpPr/>
            <p:nvPr/>
          </p:nvGrpSpPr>
          <p:grpSpPr>
            <a:xfrm>
              <a:off x="9929520" y="5518440"/>
              <a:ext cx="385920" cy="605880"/>
              <a:chOff x="9929520" y="5518440"/>
              <a:chExt cx="385920" cy="605880"/>
            </a:xfrm>
          </p:grpSpPr>
          <p:sp>
            <p:nvSpPr>
              <p:cNvPr id="291" name="Ellipse 498"/>
              <p:cNvSpPr/>
              <p:nvPr/>
            </p:nvSpPr>
            <p:spPr>
              <a:xfrm>
                <a:off x="9929520" y="55184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92" name="Ellipse 499"/>
              <p:cNvSpPr/>
              <p:nvPr/>
            </p:nvSpPr>
            <p:spPr>
              <a:xfrm>
                <a:off x="9929520" y="57571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93" name="Ellipse 500"/>
              <p:cNvSpPr/>
              <p:nvPr/>
            </p:nvSpPr>
            <p:spPr>
              <a:xfrm>
                <a:off x="10186920" y="55184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94" name="Ellipse 501"/>
              <p:cNvSpPr/>
              <p:nvPr/>
            </p:nvSpPr>
            <p:spPr>
              <a:xfrm>
                <a:off x="10186920" y="599580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95" name="Ellipse 502"/>
              <p:cNvSpPr/>
              <p:nvPr/>
            </p:nvSpPr>
            <p:spPr>
              <a:xfrm>
                <a:off x="9929520" y="599580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96" name="ZoneTexte 494"/>
          <p:cNvSpPr/>
          <p:nvPr/>
        </p:nvSpPr>
        <p:spPr>
          <a:xfrm>
            <a:off x="9701280" y="5086440"/>
            <a:ext cx="98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BE" sz="16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X</a:t>
            </a:r>
            <a:r>
              <a:rPr lang="fr-B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BE" sz="16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C</a:t>
            </a:r>
            <a:r>
              <a:rPr lang="fr-BE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+</a:t>
            </a:r>
            <a:r>
              <a:rPr lang="fr-B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</a:t>
            </a:r>
            <a:r>
              <a:rPr lang="fr-BE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--</a:t>
            </a:r>
            <a:r>
              <a:rPr lang="fr-BE" sz="16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C</a:t>
            </a:r>
            <a:r>
              <a: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Ellipse 495"/>
          <p:cNvSpPr/>
          <p:nvPr/>
        </p:nvSpPr>
        <p:spPr>
          <a:xfrm>
            <a:off x="10186920" y="575820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298" name="Groupe 504"/>
          <p:cNvGrpSpPr/>
          <p:nvPr/>
        </p:nvGrpSpPr>
        <p:grpSpPr>
          <a:xfrm>
            <a:off x="6329880" y="5411880"/>
            <a:ext cx="531360" cy="810000"/>
            <a:chOff x="6329880" y="5411880"/>
            <a:chExt cx="531360" cy="810000"/>
          </a:xfrm>
        </p:grpSpPr>
        <p:sp>
          <p:nvSpPr>
            <p:cNvPr id="299" name="Rectangle 507"/>
            <p:cNvSpPr/>
            <p:nvPr/>
          </p:nvSpPr>
          <p:spPr>
            <a:xfrm>
              <a:off x="6329880" y="541188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00" name="Groupe 508"/>
            <p:cNvGrpSpPr/>
            <p:nvPr/>
          </p:nvGrpSpPr>
          <p:grpSpPr>
            <a:xfrm>
              <a:off x="6402240" y="5514120"/>
              <a:ext cx="385920" cy="605880"/>
              <a:chOff x="6402240" y="5514120"/>
              <a:chExt cx="385920" cy="605880"/>
            </a:xfrm>
          </p:grpSpPr>
          <p:sp>
            <p:nvSpPr>
              <p:cNvPr id="301" name="Ellipse 509"/>
              <p:cNvSpPr/>
              <p:nvPr/>
            </p:nvSpPr>
            <p:spPr>
              <a:xfrm>
                <a:off x="6402240" y="55141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02" name="Ellipse 510"/>
              <p:cNvSpPr/>
              <p:nvPr/>
            </p:nvSpPr>
            <p:spPr>
              <a:xfrm>
                <a:off x="6402240" y="575280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03" name="Ellipse 511"/>
              <p:cNvSpPr/>
              <p:nvPr/>
            </p:nvSpPr>
            <p:spPr>
              <a:xfrm>
                <a:off x="6659640" y="55141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04" name="Ellipse 512"/>
              <p:cNvSpPr/>
              <p:nvPr/>
            </p:nvSpPr>
            <p:spPr>
              <a:xfrm>
                <a:off x="6659640" y="599148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05" name="Ellipse 513"/>
              <p:cNvSpPr/>
              <p:nvPr/>
            </p:nvSpPr>
            <p:spPr>
              <a:xfrm>
                <a:off x="6402240" y="599148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306" name="ZoneTexte 505"/>
          <p:cNvSpPr/>
          <p:nvPr/>
        </p:nvSpPr>
        <p:spPr>
          <a:xfrm>
            <a:off x="6128640" y="5076000"/>
            <a:ext cx="99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L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=</a:t>
            </a:r>
            <a:r>
              <a:rPr lang="fr-FR" sz="16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B</a:t>
            </a:r>
            <a:r>
              <a:rPr lang="fr-BE" sz="18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Microsoft YaHei"/>
              </a:rPr>
              <a:t>+</a:t>
            </a:r>
            <a:r>
              <a:rPr lang="fr-B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(</a:t>
            </a:r>
            <a:r>
              <a:rPr lang="fr-BE" sz="18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Microsoft YaHei"/>
              </a:rPr>
              <a:t>--</a:t>
            </a:r>
            <a:r>
              <a:rPr lang="fr-BE" sz="16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B</a:t>
            </a:r>
            <a:r>
              <a: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)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Ellipse 506"/>
          <p:cNvSpPr/>
          <p:nvPr/>
        </p:nvSpPr>
        <p:spPr>
          <a:xfrm>
            <a:off x="6659640" y="575388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8" name="Rectangle 518"/>
          <p:cNvSpPr/>
          <p:nvPr/>
        </p:nvSpPr>
        <p:spPr>
          <a:xfrm>
            <a:off x="7159680" y="5418000"/>
            <a:ext cx="531360" cy="810000"/>
          </a:xfrm>
          <a:prstGeom prst="rect">
            <a:avLst/>
          </a:prstGeom>
          <a:solidFill>
            <a:srgbClr val="DEE6EF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9" name="Ellipse 520"/>
          <p:cNvSpPr/>
          <p:nvPr/>
        </p:nvSpPr>
        <p:spPr>
          <a:xfrm>
            <a:off x="7232400" y="551988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0" name="Ellipse 521"/>
          <p:cNvSpPr/>
          <p:nvPr/>
        </p:nvSpPr>
        <p:spPr>
          <a:xfrm>
            <a:off x="7232400" y="575856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1" name="Ellipse 522"/>
          <p:cNvSpPr/>
          <p:nvPr/>
        </p:nvSpPr>
        <p:spPr>
          <a:xfrm>
            <a:off x="7489800" y="551988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Ellipse 523"/>
          <p:cNvSpPr/>
          <p:nvPr/>
        </p:nvSpPr>
        <p:spPr>
          <a:xfrm>
            <a:off x="7489800" y="599724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3" name="Ellipse 524"/>
          <p:cNvSpPr/>
          <p:nvPr/>
        </p:nvSpPr>
        <p:spPr>
          <a:xfrm>
            <a:off x="7232400" y="599724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4" name="ZoneTexte 516"/>
          <p:cNvSpPr/>
          <p:nvPr/>
        </p:nvSpPr>
        <p:spPr>
          <a:xfrm>
            <a:off x="6883200" y="5087880"/>
            <a:ext cx="87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S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P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-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A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Ellipse 517"/>
          <p:cNvSpPr/>
          <p:nvPr/>
        </p:nvSpPr>
        <p:spPr>
          <a:xfrm>
            <a:off x="7489800" y="575964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ectangle 548"/>
          <p:cNvSpPr/>
          <p:nvPr/>
        </p:nvSpPr>
        <p:spPr>
          <a:xfrm>
            <a:off x="5524920" y="3675240"/>
            <a:ext cx="2217960" cy="1142280"/>
          </a:xfrm>
          <a:prstGeom prst="rect">
            <a:avLst/>
          </a:prstGeom>
          <a:solidFill>
            <a:srgbClr val="FFF2CC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317" name="Groupe 563"/>
          <p:cNvGrpSpPr/>
          <p:nvPr/>
        </p:nvGrpSpPr>
        <p:grpSpPr>
          <a:xfrm>
            <a:off x="5638680" y="3930480"/>
            <a:ext cx="531360" cy="810000"/>
            <a:chOff x="5638680" y="3930480"/>
            <a:chExt cx="531360" cy="810000"/>
          </a:xfrm>
        </p:grpSpPr>
        <p:sp>
          <p:nvSpPr>
            <p:cNvPr id="318" name="Rectangle 566"/>
            <p:cNvSpPr/>
            <p:nvPr/>
          </p:nvSpPr>
          <p:spPr>
            <a:xfrm>
              <a:off x="5638680" y="393048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19" name="Groupe 567"/>
            <p:cNvGrpSpPr/>
            <p:nvPr/>
          </p:nvGrpSpPr>
          <p:grpSpPr>
            <a:xfrm>
              <a:off x="5711400" y="4032720"/>
              <a:ext cx="385920" cy="605880"/>
              <a:chOff x="5711400" y="4032720"/>
              <a:chExt cx="385920" cy="605880"/>
            </a:xfrm>
          </p:grpSpPr>
          <p:sp>
            <p:nvSpPr>
              <p:cNvPr id="320" name="Ellipse 568"/>
              <p:cNvSpPr/>
              <p:nvPr/>
            </p:nvSpPr>
            <p:spPr>
              <a:xfrm>
                <a:off x="5711400" y="40327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1" name="Ellipse 569"/>
              <p:cNvSpPr/>
              <p:nvPr/>
            </p:nvSpPr>
            <p:spPr>
              <a:xfrm>
                <a:off x="5711400" y="427140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2" name="Ellipse 570"/>
              <p:cNvSpPr/>
              <p:nvPr/>
            </p:nvSpPr>
            <p:spPr>
              <a:xfrm>
                <a:off x="5968800" y="40327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3" name="Ellipse 571"/>
              <p:cNvSpPr/>
              <p:nvPr/>
            </p:nvSpPr>
            <p:spPr>
              <a:xfrm>
                <a:off x="5968800" y="451008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4" name="Ellipse 572"/>
              <p:cNvSpPr/>
              <p:nvPr/>
            </p:nvSpPr>
            <p:spPr>
              <a:xfrm>
                <a:off x="5711400" y="451008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325" name="ZoneTexte 564"/>
          <p:cNvSpPr/>
          <p:nvPr/>
        </p:nvSpPr>
        <p:spPr>
          <a:xfrm>
            <a:off x="5559120" y="3600720"/>
            <a:ext cx="702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U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X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-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J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Ellipse 565"/>
          <p:cNvSpPr/>
          <p:nvPr/>
        </p:nvSpPr>
        <p:spPr>
          <a:xfrm>
            <a:off x="5968800" y="427248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327" name="Groupe 553"/>
          <p:cNvGrpSpPr/>
          <p:nvPr/>
        </p:nvGrpSpPr>
        <p:grpSpPr>
          <a:xfrm>
            <a:off x="7073280" y="3926880"/>
            <a:ext cx="531360" cy="810000"/>
            <a:chOff x="7073280" y="3926880"/>
            <a:chExt cx="531360" cy="810000"/>
          </a:xfrm>
        </p:grpSpPr>
        <p:sp>
          <p:nvSpPr>
            <p:cNvPr id="328" name="Rectangle 556"/>
            <p:cNvSpPr/>
            <p:nvPr/>
          </p:nvSpPr>
          <p:spPr>
            <a:xfrm>
              <a:off x="7073280" y="392688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29" name="Groupe 557"/>
            <p:cNvGrpSpPr/>
            <p:nvPr/>
          </p:nvGrpSpPr>
          <p:grpSpPr>
            <a:xfrm>
              <a:off x="7146000" y="4028760"/>
              <a:ext cx="385920" cy="605880"/>
              <a:chOff x="7146000" y="4028760"/>
              <a:chExt cx="385920" cy="605880"/>
            </a:xfrm>
          </p:grpSpPr>
          <p:sp>
            <p:nvSpPr>
              <p:cNvPr id="330" name="Ellipse 558"/>
              <p:cNvSpPr/>
              <p:nvPr/>
            </p:nvSpPr>
            <p:spPr>
              <a:xfrm>
                <a:off x="7146000" y="402876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1" name="Ellipse 559"/>
              <p:cNvSpPr/>
              <p:nvPr/>
            </p:nvSpPr>
            <p:spPr>
              <a:xfrm>
                <a:off x="7146000" y="426744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2" name="Ellipse 560"/>
              <p:cNvSpPr/>
              <p:nvPr/>
            </p:nvSpPr>
            <p:spPr>
              <a:xfrm>
                <a:off x="7403400" y="402876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3" name="Ellipse 561"/>
              <p:cNvSpPr/>
              <p:nvPr/>
            </p:nvSpPr>
            <p:spPr>
              <a:xfrm>
                <a:off x="7403400" y="45061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4" name="Ellipse 562"/>
              <p:cNvSpPr/>
              <p:nvPr/>
            </p:nvSpPr>
            <p:spPr>
              <a:xfrm>
                <a:off x="7146000" y="450612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335" name="ZoneTexte 554"/>
          <p:cNvSpPr/>
          <p:nvPr/>
        </p:nvSpPr>
        <p:spPr>
          <a:xfrm>
            <a:off x="6923160" y="3596760"/>
            <a:ext cx="776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Microsoft YaHei"/>
              </a:rPr>
              <a:t>M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=</a:t>
            </a:r>
            <a:r>
              <a: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--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U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Ellipse 555"/>
          <p:cNvSpPr/>
          <p:nvPr/>
        </p:nvSpPr>
        <p:spPr>
          <a:xfrm>
            <a:off x="7403400" y="4268520"/>
            <a:ext cx="128520" cy="128520"/>
          </a:xfrm>
          <a:prstGeom prst="ellipse">
            <a:avLst/>
          </a:prstGeom>
          <a:solidFill>
            <a:schemeClr val="bg1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337" name="Connecteur droit avec flèche 551"/>
          <p:cNvCxnSpPr>
            <a:stCxn id="318" idx="3"/>
            <a:endCxn id="328" idx="1"/>
          </p:cNvCxnSpPr>
          <p:nvPr/>
        </p:nvCxnSpPr>
        <p:spPr>
          <a:xfrm flipV="1">
            <a:off x="6170040" y="4331880"/>
            <a:ext cx="903600" cy="3960"/>
          </a:xfrm>
          <a:prstGeom prst="straightConnector1">
            <a:avLst/>
          </a:prstGeom>
          <a:ln w="0">
            <a:solidFill>
              <a:srgbClr val="5B9BD5"/>
            </a:solidFill>
            <a:headEnd len="med" type="triangle" w="med"/>
            <a:tailEnd len="med" type="triangle" w="med"/>
          </a:ln>
        </p:spPr>
      </p:cxnSp>
      <p:sp>
        <p:nvSpPr>
          <p:cNvPr id="338" name="ZoneTexte 552"/>
          <p:cNvSpPr/>
          <p:nvPr/>
        </p:nvSpPr>
        <p:spPr>
          <a:xfrm>
            <a:off x="6193080" y="4076280"/>
            <a:ext cx="860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3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Symmetry</a:t>
            </a:r>
            <a:endParaRPr lang="fr-BE" sz="13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grpSp>
        <p:nvGrpSpPr>
          <p:cNvPr id="339" name="Groupe 574"/>
          <p:cNvGrpSpPr/>
          <p:nvPr/>
        </p:nvGrpSpPr>
        <p:grpSpPr>
          <a:xfrm>
            <a:off x="10849680" y="3936600"/>
            <a:ext cx="531360" cy="810000"/>
            <a:chOff x="10849680" y="3936600"/>
            <a:chExt cx="531360" cy="810000"/>
          </a:xfrm>
        </p:grpSpPr>
        <p:sp>
          <p:nvSpPr>
            <p:cNvPr id="340" name="Rectangle 577"/>
            <p:cNvSpPr/>
            <p:nvPr/>
          </p:nvSpPr>
          <p:spPr>
            <a:xfrm>
              <a:off x="10849680" y="3936600"/>
              <a:ext cx="531360" cy="810000"/>
            </a:xfrm>
            <a:prstGeom prst="rect">
              <a:avLst/>
            </a:prstGeom>
            <a:solidFill>
              <a:srgbClr val="DEEBF7"/>
            </a:solidFill>
            <a:ln>
              <a:solidFill>
                <a:srgbClr val="BC8E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41" name="Groupe 578"/>
            <p:cNvGrpSpPr/>
            <p:nvPr/>
          </p:nvGrpSpPr>
          <p:grpSpPr>
            <a:xfrm>
              <a:off x="10922400" y="4038840"/>
              <a:ext cx="385920" cy="605880"/>
              <a:chOff x="10922400" y="4038840"/>
              <a:chExt cx="385920" cy="605880"/>
            </a:xfrm>
          </p:grpSpPr>
          <p:sp>
            <p:nvSpPr>
              <p:cNvPr id="342" name="Ellipse 579"/>
              <p:cNvSpPr/>
              <p:nvPr/>
            </p:nvSpPr>
            <p:spPr>
              <a:xfrm>
                <a:off x="10922400" y="40388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43" name="Ellipse 580"/>
              <p:cNvSpPr/>
              <p:nvPr/>
            </p:nvSpPr>
            <p:spPr>
              <a:xfrm>
                <a:off x="10922400" y="4277520"/>
                <a:ext cx="128520" cy="128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44" name="Ellipse 581"/>
              <p:cNvSpPr/>
              <p:nvPr/>
            </p:nvSpPr>
            <p:spPr>
              <a:xfrm>
                <a:off x="11179800" y="403884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45" name="Ellipse 582"/>
              <p:cNvSpPr/>
              <p:nvPr/>
            </p:nvSpPr>
            <p:spPr>
              <a:xfrm>
                <a:off x="11179800" y="451620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46" name="Ellipse 583"/>
              <p:cNvSpPr/>
              <p:nvPr/>
            </p:nvSpPr>
            <p:spPr>
              <a:xfrm>
                <a:off x="10922400" y="4516200"/>
                <a:ext cx="128520" cy="128520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372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fr-BE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347" name="ZoneTexte 575"/>
          <p:cNvSpPr/>
          <p:nvPr/>
        </p:nvSpPr>
        <p:spPr>
          <a:xfrm>
            <a:off x="10734840" y="3606840"/>
            <a:ext cx="778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Y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X</a:t>
            </a:r>
            <a:r>
              <a:rPr lang="fr-FR" sz="18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+</a:t>
            </a:r>
            <a:r>
              <a:rPr lang="fr-FR" sz="1800" b="0" u="none" strike="noStrike">
                <a:solidFill>
                  <a:srgbClr val="00A933"/>
                </a:solidFill>
                <a:effectLst/>
                <a:uFillTx/>
                <a:latin typeface="Calibri"/>
              </a:rPr>
              <a:t>D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Ellipse 576"/>
          <p:cNvSpPr/>
          <p:nvPr/>
        </p:nvSpPr>
        <p:spPr>
          <a:xfrm>
            <a:off x="11179800" y="4278600"/>
            <a:ext cx="128520" cy="12852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9" name="ZoneTexte 82"/>
          <p:cNvSpPr/>
          <p:nvPr/>
        </p:nvSpPr>
        <p:spPr>
          <a:xfrm>
            <a:off x="1850760" y="6304680"/>
            <a:ext cx="835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point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ZoneTexte 588"/>
          <p:cNvSpPr/>
          <p:nvPr/>
        </p:nvSpPr>
        <p:spPr>
          <a:xfrm>
            <a:off x="3744360" y="6318000"/>
            <a:ext cx="92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 points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ZoneTexte 589"/>
          <p:cNvSpPr/>
          <p:nvPr/>
        </p:nvSpPr>
        <p:spPr>
          <a:xfrm>
            <a:off x="6234480" y="6312960"/>
            <a:ext cx="92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 points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ZoneTexte 590"/>
          <p:cNvSpPr/>
          <p:nvPr/>
        </p:nvSpPr>
        <p:spPr>
          <a:xfrm>
            <a:off x="8660160" y="6294600"/>
            <a:ext cx="92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 points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ZoneTexte 591"/>
          <p:cNvSpPr/>
          <p:nvPr/>
        </p:nvSpPr>
        <p:spPr>
          <a:xfrm>
            <a:off x="10664640" y="6324840"/>
            <a:ext cx="92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 points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ZoneTexte 1"/>
          <p:cNvSpPr/>
          <p:nvPr/>
        </p:nvSpPr>
        <p:spPr>
          <a:xfrm>
            <a:off x="2488320" y="135360"/>
            <a:ext cx="6909480" cy="3639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B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Braille Alphabet: Classification and Relations V3         ©2026 Michel Kern</a:t>
            </a: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ZoneTexte 331"/>
          <p:cNvSpPr/>
          <p:nvPr/>
        </p:nvSpPr>
        <p:spPr>
          <a:xfrm>
            <a:off x="6197040" y="1158480"/>
            <a:ext cx="860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300" b="0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Symmetry</a:t>
            </a:r>
            <a:endParaRPr lang="fr-B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43920" y="630000"/>
            <a:ext cx="177948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fr-BE" sz="1600" b="0" u="none" strike="noStrike">
                <a:solidFill>
                  <a:srgbClr val="FF8000"/>
                </a:solidFill>
                <a:effectLst/>
                <a:uFillTx/>
                <a:latin typeface="Arial"/>
                <a:ea typeface="DejaVu Sans"/>
              </a:rPr>
              <a:t>Operators</a:t>
            </a:r>
            <a:endParaRPr lang="fr-B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fr-BE" sz="800" b="0" u="none" strike="noStrike">
                <a:solidFill>
                  <a:srgbClr val="FF8000"/>
                </a:solidFill>
                <a:effectLst/>
                <a:uFillTx/>
                <a:latin typeface="Lucida Console"/>
                <a:ea typeface="Microsoft YaHei"/>
              </a:rPr>
              <a:t>+</a:t>
            </a:r>
            <a:r>
              <a:rPr lang="fr-BE" sz="800" b="0" u="none" strike="noStrike">
                <a:solidFill>
                  <a:srgbClr val="FF8000"/>
                </a:solidFill>
                <a:effectLst/>
                <a:uFillTx/>
                <a:latin typeface="Lucida Console"/>
                <a:ea typeface="DejaVu Sans"/>
              </a:rPr>
              <a:t>: Union of points </a:t>
            </a:r>
            <a:br>
              <a:rPr sz="800"/>
            </a:br>
            <a:r>
              <a:rPr lang="fr-BE" sz="800" b="0" u="none" strike="noStrike">
                <a:solidFill>
                  <a:srgbClr val="FF8000"/>
                </a:solidFill>
                <a:effectLst/>
                <a:uFillTx/>
                <a:latin typeface="Lucida Console"/>
                <a:ea typeface="Microsoft YaHei"/>
              </a:rPr>
              <a:t>-</a:t>
            </a:r>
            <a:r>
              <a:rPr lang="fr-BE" sz="800" b="0" u="none" strike="noStrike">
                <a:solidFill>
                  <a:srgbClr val="FF8000"/>
                </a:solidFill>
                <a:effectLst/>
                <a:uFillTx/>
                <a:latin typeface="Lucida Console"/>
                <a:ea typeface="DejaVu Sans"/>
              </a:rPr>
              <a:t>: Substraction of points</a:t>
            </a:r>
            <a:br>
              <a:rPr sz="800"/>
            </a:br>
            <a:br>
              <a:rPr sz="800"/>
            </a:br>
            <a:r>
              <a:rPr lang="fr-BE" sz="800" b="0" u="none" strike="noStrike">
                <a:solidFill>
                  <a:srgbClr val="FF8000"/>
                </a:solidFill>
                <a:effectLst/>
                <a:uFillTx/>
                <a:latin typeface="Lucida Console"/>
                <a:ea typeface="Microsoft YaHei"/>
              </a:rPr>
              <a:t>&gt;</a:t>
            </a:r>
            <a:r>
              <a:rPr lang="fr-BE" sz="800" b="0" u="none" strike="noStrike">
                <a:solidFill>
                  <a:srgbClr val="FF8000"/>
                </a:solidFill>
                <a:effectLst/>
                <a:uFillTx/>
                <a:latin typeface="Lucida Console"/>
                <a:ea typeface="DejaVu Sans"/>
              </a:rPr>
              <a:t>: 90° clockwise Rotation</a:t>
            </a:r>
            <a:br>
              <a:rPr sz="800"/>
            </a:br>
            <a:br>
              <a:rPr sz="800"/>
            </a:br>
            <a:r>
              <a:rPr lang="fr-BE" sz="800" b="0" u="none" strike="noStrike">
                <a:solidFill>
                  <a:srgbClr val="FF8000"/>
                </a:solidFill>
                <a:effectLst/>
                <a:uFillTx/>
                <a:latin typeface="Lucida Console"/>
                <a:ea typeface="DejaVu Sans"/>
              </a:rPr>
              <a:t>--: Horizontal Symmetry</a:t>
            </a:r>
            <a:br>
              <a:rPr sz="800"/>
            </a:br>
            <a:r>
              <a:rPr lang="fr-BE" sz="800" b="0" u="none" strike="noStrike">
                <a:solidFill>
                  <a:srgbClr val="FF8000"/>
                </a:solidFill>
                <a:effectLst/>
                <a:uFillTx/>
                <a:latin typeface="Lucida Console"/>
                <a:ea typeface="DejaVu Sans"/>
              </a:rPr>
              <a:t>||: Vertical Symmetry</a:t>
            </a:r>
            <a:endParaRPr lang="fr-B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519</TotalTime>
  <Application>LibreOffice/26.2.0.3$Windows_X86_64 LibreOffice_project/620$Build-3</Application>
  <AppVersion>15.0000</AppVersion>
  <Words>72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2022-07-17T16:52:27Z</dcterms:created>
  <dc:creator>Compte Microsoft</dc:creator>
  <dc:description/>
  <dc:language>fr-BE</dc:language>
  <cp:lastModifiedBy/>
  <cp:lastPrinted>2026-05-25T16:23:25Z</cp:lastPrinted>
  <dcterms:modified xsi:type="dcterms:W3CDTF">2026-05-25T16:23:57Z</dcterms:modified>
  <cp:revision>303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1</vt:i4>
  </property>
</Properties>
</file>